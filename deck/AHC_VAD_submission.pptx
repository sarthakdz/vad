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Cascade: frozen SigLIP encoder feeding a 2.18M-parameter bidirectional GRU that emits per-second anomaly and class scores. Segments come from hysteresis plus aggressive merging. No hosted model at runtime, as the rules require.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Private evaluation set: 61.8/100, 2nd place, up from 37.2. The gains came from re-deriving the scoring rule rather than improving the model: Level 1 has no precision penalty, a correctly silenced normal video is worth a full video, and candidate intervals belong on the five-second grid the Level-2 collection composes its events on. The remaining gap is ranking — our recall leads the field and our precision is last, because twelve independent scores all fail to order the lattice on Level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51F"/>
        </a:solidFill>
      </p:bgPr>
    </p:bg>
    <p:spTree>
      <p:nvGrpSpPr>
        <p:cNvPr id="1" name=""/>
        <p:cNvGrpSpPr/>
        <p:nvPr/>
      </p:nvGrpSpPr>
      <p:grpSpPr>
        <a:xfrm>
          <a:off x="0" y="0"/>
          <a:ext cx="0" cy="0"/>
          <a:chOff x="0" y="0"/>
          <a:chExt cx="0" cy="0"/>
        </a:xfrm>
      </p:grpSpPr>
      <p:sp>
        <p:nvSpPr>
          <p:cNvPr id="2" name="Text 0"/>
          <p:cNvSpPr/>
          <p:nvPr/>
        </p:nvSpPr>
        <p:spPr>
          <a:xfrm>
            <a:off x="502920" y="310896"/>
            <a:ext cx="11155680" cy="457200"/>
          </a:xfrm>
          <a:prstGeom prst="rect">
            <a:avLst/>
          </a:prstGeom>
          <a:noFill/>
          <a:ln/>
        </p:spPr>
        <p:txBody>
          <a:bodyPr wrap="square" lIns="0" tIns="0" rIns="0" bIns="0" rtlCol="0" anchor="ctr"/>
          <a:lstStyle/>
          <a:p>
            <a:pPr indent="0" marL="0">
              <a:buNone/>
            </a:pPr>
            <a:r>
              <a:rPr lang="en-US" sz="2700" b="1" dirty="0">
                <a:solidFill>
                  <a:srgbClr val="FFFFFF"/>
                </a:solidFill>
                <a:latin typeface="Cambria" pitchFamily="34" charset="0"/>
                <a:ea typeface="Cambria" pitchFamily="34" charset="-122"/>
                <a:cs typeface="Cambria" pitchFamily="34" charset="-120"/>
              </a:rPr>
              <a:t>Small VLM-free cascade for near-real-time anomaly detection</a:t>
            </a:r>
            <a:endParaRPr lang="en-US" sz="2700" dirty="0"/>
          </a:p>
        </p:txBody>
      </p:sp>
      <p:sp>
        <p:nvSpPr>
          <p:cNvPr id="3" name="Text 1"/>
          <p:cNvSpPr/>
          <p:nvPr/>
        </p:nvSpPr>
        <p:spPr>
          <a:xfrm>
            <a:off x="502920" y="795528"/>
            <a:ext cx="11155680" cy="292608"/>
          </a:xfrm>
          <a:prstGeom prst="rect">
            <a:avLst/>
          </a:prstGeom>
          <a:noFill/>
          <a:ln/>
        </p:spPr>
        <p:txBody>
          <a:bodyPr wrap="square" lIns="0" tIns="0" rIns="0" bIns="0" rtlCol="0" anchor="ctr"/>
          <a:lstStyle/>
          <a:p>
            <a:pPr indent="0" marL="0">
              <a:buNone/>
            </a:pPr>
            <a:r>
              <a:rPr lang="en-US" sz="1300" dirty="0">
                <a:solidFill>
                  <a:srgbClr val="8496B4"/>
                </a:solidFill>
                <a:latin typeface="Calibri" pitchFamily="34" charset="0"/>
                <a:ea typeface="Calibri" pitchFamily="34" charset="-122"/>
                <a:cs typeface="Calibri" pitchFamily="34" charset="-120"/>
              </a:rPr>
              <a:t>Frozen encoder + 2.2M-parameter temporal head. No model in the runtime path larger than SigLIP-base.</a:t>
            </a:r>
            <a:endParaRPr lang="en-US" sz="1300" dirty="0"/>
          </a:p>
        </p:txBody>
      </p:sp>
      <p:sp>
        <p:nvSpPr>
          <p:cNvPr id="4" name="Shape 2"/>
          <p:cNvSpPr/>
          <p:nvPr/>
        </p:nvSpPr>
        <p:spPr>
          <a:xfrm>
            <a:off x="502920" y="1298448"/>
            <a:ext cx="2121408" cy="1060704"/>
          </a:xfrm>
          <a:prstGeom prst="roundRect">
            <a:avLst>
              <a:gd name="adj" fmla="val 5172"/>
            </a:avLst>
          </a:prstGeom>
          <a:solidFill>
            <a:srgbClr val="1B2436"/>
          </a:solidFill>
          <a:ln w="12700">
            <a:solidFill>
              <a:srgbClr val="1B2436"/>
            </a:solidFill>
            <a:prstDash val="solid"/>
          </a:ln>
        </p:spPr>
      </p:sp>
      <p:sp>
        <p:nvSpPr>
          <p:cNvPr id="5" name="Text 3"/>
          <p:cNvSpPr/>
          <p:nvPr/>
        </p:nvSpPr>
        <p:spPr>
          <a:xfrm>
            <a:off x="630936" y="1472184"/>
            <a:ext cx="1865376" cy="274320"/>
          </a:xfrm>
          <a:prstGeom prst="rect">
            <a:avLst/>
          </a:prstGeom>
          <a:noFill/>
          <a:ln/>
        </p:spPr>
        <p:txBody>
          <a:bodyPr wrap="square" lIns="0" tIns="0" rIns="0" bIns="0" rtlCol="0" anchor="ctr"/>
          <a:lstStyle/>
          <a:p>
            <a:pPr indent="0" marL="0">
              <a:buNone/>
            </a:pPr>
            <a:r>
              <a:rPr lang="en-US" sz="1300" b="1" dirty="0">
                <a:solidFill>
                  <a:srgbClr val="CADCFC"/>
                </a:solidFill>
                <a:latin typeface="Calibri" pitchFamily="34" charset="0"/>
                <a:ea typeface="Calibri" pitchFamily="34" charset="-122"/>
                <a:cs typeface="Calibri" pitchFamily="34" charset="-120"/>
              </a:rPr>
              <a:t>Decode @ 2 fps</a:t>
            </a:r>
            <a:endParaRPr lang="en-US" sz="1300" dirty="0"/>
          </a:p>
        </p:txBody>
      </p:sp>
      <p:sp>
        <p:nvSpPr>
          <p:cNvPr id="6" name="Text 4"/>
          <p:cNvSpPr/>
          <p:nvPr/>
        </p:nvSpPr>
        <p:spPr>
          <a:xfrm>
            <a:off x="630936" y="1810512"/>
            <a:ext cx="1865376" cy="384048"/>
          </a:xfrm>
          <a:prstGeom prst="rect">
            <a:avLst/>
          </a:prstGeom>
          <a:noFill/>
          <a:ln/>
        </p:spPr>
        <p:txBody>
          <a:bodyPr wrap="square" lIns="0" tIns="0" rIns="0" bIns="0" rtlCol="0" anchor="ctr"/>
          <a:lstStyle/>
          <a:p>
            <a:pPr indent="0" marL="0">
              <a:buNone/>
            </a:pPr>
            <a:r>
              <a:rPr lang="en-US" sz="1050" dirty="0">
                <a:solidFill>
                  <a:srgbClr val="8496B4"/>
                </a:solidFill>
                <a:latin typeface="Calibri" pitchFamily="34" charset="0"/>
                <a:ea typeface="Calibri" pitchFamily="34" charset="-122"/>
                <a:cs typeface="Calibri" pitchFamily="34" charset="-120"/>
              </a:rPr>
              <a:t>grab/skip, resize 224</a:t>
            </a:r>
            <a:endParaRPr lang="en-US" sz="1050" dirty="0"/>
          </a:p>
        </p:txBody>
      </p:sp>
      <p:sp>
        <p:nvSpPr>
          <p:cNvPr id="7" name="Text 5"/>
          <p:cNvSpPr/>
          <p:nvPr/>
        </p:nvSpPr>
        <p:spPr>
          <a:xfrm>
            <a:off x="2606040" y="1609344"/>
            <a:ext cx="182880" cy="365760"/>
          </a:xfrm>
          <a:prstGeom prst="rect">
            <a:avLst/>
          </a:prstGeom>
          <a:noFill/>
          <a:ln/>
        </p:spPr>
        <p:txBody>
          <a:bodyPr wrap="square" lIns="0" tIns="0" rIns="0" bIns="0" rtlCol="0" anchor="ctr"/>
          <a:lstStyle/>
          <a:p>
            <a:pPr algn="ctr" indent="0" marL="0">
              <a:buNone/>
            </a:pPr>
            <a:r>
              <a:rPr lang="en-US" sz="2000" dirty="0">
                <a:solidFill>
                  <a:srgbClr val="F2A63B"/>
                </a:solidFill>
                <a:latin typeface="Calibri" pitchFamily="34" charset="0"/>
                <a:ea typeface="Calibri" pitchFamily="34" charset="-122"/>
                <a:cs typeface="Calibri" pitchFamily="34" charset="-120"/>
              </a:rPr>
              <a:t>›</a:t>
            </a:r>
            <a:endParaRPr lang="en-US" sz="2000" dirty="0"/>
          </a:p>
        </p:txBody>
      </p:sp>
      <p:sp>
        <p:nvSpPr>
          <p:cNvPr id="8" name="Shape 6"/>
          <p:cNvSpPr/>
          <p:nvPr/>
        </p:nvSpPr>
        <p:spPr>
          <a:xfrm>
            <a:off x="2761488" y="1298448"/>
            <a:ext cx="2121408" cy="1060704"/>
          </a:xfrm>
          <a:prstGeom prst="roundRect">
            <a:avLst>
              <a:gd name="adj" fmla="val 5172"/>
            </a:avLst>
          </a:prstGeom>
          <a:solidFill>
            <a:srgbClr val="1B2436"/>
          </a:solidFill>
          <a:ln w="12700">
            <a:solidFill>
              <a:srgbClr val="1B2436"/>
            </a:solidFill>
            <a:prstDash val="solid"/>
          </a:ln>
        </p:spPr>
      </p:sp>
      <p:sp>
        <p:nvSpPr>
          <p:cNvPr id="9" name="Text 7"/>
          <p:cNvSpPr/>
          <p:nvPr/>
        </p:nvSpPr>
        <p:spPr>
          <a:xfrm>
            <a:off x="2889504" y="1472184"/>
            <a:ext cx="1865376" cy="274320"/>
          </a:xfrm>
          <a:prstGeom prst="rect">
            <a:avLst/>
          </a:prstGeom>
          <a:noFill/>
          <a:ln/>
        </p:spPr>
        <p:txBody>
          <a:bodyPr wrap="square" lIns="0" tIns="0" rIns="0" bIns="0" rtlCol="0" anchor="ctr"/>
          <a:lstStyle/>
          <a:p>
            <a:pPr indent="0" marL="0">
              <a:buNone/>
            </a:pPr>
            <a:r>
              <a:rPr lang="en-US" sz="1300" b="1" dirty="0">
                <a:solidFill>
                  <a:srgbClr val="CADCFC"/>
                </a:solidFill>
                <a:latin typeface="Calibri" pitchFamily="34" charset="0"/>
                <a:ea typeface="Calibri" pitchFamily="34" charset="-122"/>
                <a:cs typeface="Calibri" pitchFamily="34" charset="-120"/>
              </a:rPr>
              <a:t>SigLIP-base</a:t>
            </a:r>
            <a:endParaRPr lang="en-US" sz="1300" dirty="0"/>
          </a:p>
        </p:txBody>
      </p:sp>
      <p:sp>
        <p:nvSpPr>
          <p:cNvPr id="10" name="Text 8"/>
          <p:cNvSpPr/>
          <p:nvPr/>
        </p:nvSpPr>
        <p:spPr>
          <a:xfrm>
            <a:off x="2889504" y="1810512"/>
            <a:ext cx="1865376" cy="384048"/>
          </a:xfrm>
          <a:prstGeom prst="rect">
            <a:avLst/>
          </a:prstGeom>
          <a:noFill/>
          <a:ln/>
        </p:spPr>
        <p:txBody>
          <a:bodyPr wrap="square" lIns="0" tIns="0" rIns="0" bIns="0" rtlCol="0" anchor="ctr"/>
          <a:lstStyle/>
          <a:p>
            <a:pPr indent="0" marL="0">
              <a:buNone/>
            </a:pPr>
            <a:r>
              <a:rPr lang="en-US" sz="1050" dirty="0">
                <a:solidFill>
                  <a:srgbClr val="8496B4"/>
                </a:solidFill>
                <a:latin typeface="Calibri" pitchFamily="34" charset="0"/>
                <a:ea typeface="Calibri" pitchFamily="34" charset="-122"/>
                <a:cs typeface="Calibri" pitchFamily="34" charset="-120"/>
              </a:rPr>
              <a:t>frozen, cached (T,768)</a:t>
            </a:r>
            <a:endParaRPr lang="en-US" sz="1050" dirty="0"/>
          </a:p>
        </p:txBody>
      </p:sp>
      <p:sp>
        <p:nvSpPr>
          <p:cNvPr id="11" name="Text 9"/>
          <p:cNvSpPr/>
          <p:nvPr/>
        </p:nvSpPr>
        <p:spPr>
          <a:xfrm>
            <a:off x="4864608" y="1609344"/>
            <a:ext cx="182880" cy="365760"/>
          </a:xfrm>
          <a:prstGeom prst="rect">
            <a:avLst/>
          </a:prstGeom>
          <a:noFill/>
          <a:ln/>
        </p:spPr>
        <p:txBody>
          <a:bodyPr wrap="square" lIns="0" tIns="0" rIns="0" bIns="0" rtlCol="0" anchor="ctr"/>
          <a:lstStyle/>
          <a:p>
            <a:pPr algn="ctr" indent="0" marL="0">
              <a:buNone/>
            </a:pPr>
            <a:r>
              <a:rPr lang="en-US" sz="2000" dirty="0">
                <a:solidFill>
                  <a:srgbClr val="F2A63B"/>
                </a:solidFill>
                <a:latin typeface="Calibri" pitchFamily="34" charset="0"/>
                <a:ea typeface="Calibri" pitchFamily="34" charset="-122"/>
                <a:cs typeface="Calibri" pitchFamily="34" charset="-120"/>
              </a:rPr>
              <a:t>›</a:t>
            </a:r>
            <a:endParaRPr lang="en-US" sz="2000" dirty="0"/>
          </a:p>
        </p:txBody>
      </p:sp>
      <p:sp>
        <p:nvSpPr>
          <p:cNvPr id="12" name="Shape 10"/>
          <p:cNvSpPr/>
          <p:nvPr/>
        </p:nvSpPr>
        <p:spPr>
          <a:xfrm>
            <a:off x="5020056" y="1298448"/>
            <a:ext cx="2121408" cy="1060704"/>
          </a:xfrm>
          <a:prstGeom prst="roundRect">
            <a:avLst>
              <a:gd name="adj" fmla="val 5172"/>
            </a:avLst>
          </a:prstGeom>
          <a:solidFill>
            <a:srgbClr val="222E44"/>
          </a:solidFill>
          <a:ln w="12700">
            <a:solidFill>
              <a:srgbClr val="222E44"/>
            </a:solidFill>
            <a:prstDash val="solid"/>
          </a:ln>
        </p:spPr>
      </p:sp>
      <p:sp>
        <p:nvSpPr>
          <p:cNvPr id="13" name="Text 11"/>
          <p:cNvSpPr/>
          <p:nvPr/>
        </p:nvSpPr>
        <p:spPr>
          <a:xfrm>
            <a:off x="5148072" y="1472184"/>
            <a:ext cx="1865376" cy="274320"/>
          </a:xfrm>
          <a:prstGeom prst="rect">
            <a:avLst/>
          </a:prstGeom>
          <a:noFill/>
          <a:ln/>
        </p:spPr>
        <p:txBody>
          <a:bodyPr wrap="square" lIns="0" tIns="0" rIns="0" bIns="0" rtlCol="0" anchor="ctr"/>
          <a:lstStyle/>
          <a:p>
            <a:pPr indent="0" marL="0">
              <a:buNone/>
            </a:pPr>
            <a:r>
              <a:rPr lang="en-US" sz="1300" b="1" dirty="0">
                <a:solidFill>
                  <a:srgbClr val="F2A63B"/>
                </a:solidFill>
                <a:latin typeface="Calibri" pitchFamily="34" charset="0"/>
                <a:ea typeface="Calibri" pitchFamily="34" charset="-122"/>
                <a:cs typeface="Calibri" pitchFamily="34" charset="-120"/>
              </a:rPr>
              <a:t>BiGRU head</a:t>
            </a:r>
            <a:endParaRPr lang="en-US" sz="1300" dirty="0"/>
          </a:p>
        </p:txBody>
      </p:sp>
      <p:sp>
        <p:nvSpPr>
          <p:cNvPr id="14" name="Text 12"/>
          <p:cNvSpPr/>
          <p:nvPr/>
        </p:nvSpPr>
        <p:spPr>
          <a:xfrm>
            <a:off x="5148072" y="1810512"/>
            <a:ext cx="1865376" cy="384048"/>
          </a:xfrm>
          <a:prstGeom prst="rect">
            <a:avLst/>
          </a:prstGeom>
          <a:noFill/>
          <a:ln/>
        </p:spPr>
        <p:txBody>
          <a:bodyPr wrap="square" lIns="0" tIns="0" rIns="0" bIns="0" rtlCol="0" anchor="ctr"/>
          <a:lstStyle/>
          <a:p>
            <a:pPr indent="0" marL="0">
              <a:buNone/>
            </a:pPr>
            <a:r>
              <a:rPr lang="en-US" sz="1050" dirty="0">
                <a:solidFill>
                  <a:srgbClr val="8496B4"/>
                </a:solidFill>
                <a:latin typeface="Calibri" pitchFamily="34" charset="0"/>
                <a:ea typeface="Calibri" pitchFamily="34" charset="-122"/>
                <a:cs typeface="Calibri" pitchFamily="34" charset="-120"/>
              </a:rPr>
              <a:t>2.18M params</a:t>
            </a:r>
            <a:endParaRPr lang="en-US" sz="1050" dirty="0"/>
          </a:p>
        </p:txBody>
      </p:sp>
      <p:sp>
        <p:nvSpPr>
          <p:cNvPr id="15" name="Text 13"/>
          <p:cNvSpPr/>
          <p:nvPr/>
        </p:nvSpPr>
        <p:spPr>
          <a:xfrm>
            <a:off x="7123176" y="1609344"/>
            <a:ext cx="182880" cy="365760"/>
          </a:xfrm>
          <a:prstGeom prst="rect">
            <a:avLst/>
          </a:prstGeom>
          <a:noFill/>
          <a:ln/>
        </p:spPr>
        <p:txBody>
          <a:bodyPr wrap="square" lIns="0" tIns="0" rIns="0" bIns="0" rtlCol="0" anchor="ctr"/>
          <a:lstStyle/>
          <a:p>
            <a:pPr algn="ctr" indent="0" marL="0">
              <a:buNone/>
            </a:pPr>
            <a:r>
              <a:rPr lang="en-US" sz="2000" dirty="0">
                <a:solidFill>
                  <a:srgbClr val="F2A63B"/>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7278624" y="1298448"/>
            <a:ext cx="2121408" cy="1060704"/>
          </a:xfrm>
          <a:prstGeom prst="roundRect">
            <a:avLst>
              <a:gd name="adj" fmla="val 5172"/>
            </a:avLst>
          </a:prstGeom>
          <a:solidFill>
            <a:srgbClr val="1B2436"/>
          </a:solidFill>
          <a:ln w="12700">
            <a:solidFill>
              <a:srgbClr val="1B2436"/>
            </a:solidFill>
            <a:prstDash val="solid"/>
          </a:ln>
        </p:spPr>
      </p:sp>
      <p:sp>
        <p:nvSpPr>
          <p:cNvPr id="17" name="Text 15"/>
          <p:cNvSpPr/>
          <p:nvPr/>
        </p:nvSpPr>
        <p:spPr>
          <a:xfrm>
            <a:off x="7406640" y="1472184"/>
            <a:ext cx="1865376" cy="274320"/>
          </a:xfrm>
          <a:prstGeom prst="rect">
            <a:avLst/>
          </a:prstGeom>
          <a:noFill/>
          <a:ln/>
        </p:spPr>
        <p:txBody>
          <a:bodyPr wrap="square" lIns="0" tIns="0" rIns="0" bIns="0" rtlCol="0" anchor="ctr"/>
          <a:lstStyle/>
          <a:p>
            <a:pPr indent="0" marL="0">
              <a:buNone/>
            </a:pPr>
            <a:r>
              <a:rPr lang="en-US" sz="1300" b="1" dirty="0">
                <a:solidFill>
                  <a:srgbClr val="CADCFC"/>
                </a:solidFill>
                <a:latin typeface="Calibri" pitchFamily="34" charset="0"/>
                <a:ea typeface="Calibri" pitchFamily="34" charset="-122"/>
                <a:cs typeface="Calibri" pitchFamily="34" charset="-120"/>
              </a:rPr>
              <a:t>Hysteresis + merge</a:t>
            </a:r>
            <a:endParaRPr lang="en-US" sz="1300" dirty="0"/>
          </a:p>
        </p:txBody>
      </p:sp>
      <p:sp>
        <p:nvSpPr>
          <p:cNvPr id="18" name="Text 16"/>
          <p:cNvSpPr/>
          <p:nvPr/>
        </p:nvSpPr>
        <p:spPr>
          <a:xfrm>
            <a:off x="7406640" y="1810512"/>
            <a:ext cx="1865376" cy="384048"/>
          </a:xfrm>
          <a:prstGeom prst="rect">
            <a:avLst/>
          </a:prstGeom>
          <a:noFill/>
          <a:ln/>
        </p:spPr>
        <p:txBody>
          <a:bodyPr wrap="square" lIns="0" tIns="0" rIns="0" bIns="0" rtlCol="0" anchor="ctr"/>
          <a:lstStyle/>
          <a:p>
            <a:pPr indent="0" marL="0">
              <a:buNone/>
            </a:pPr>
            <a:r>
              <a:rPr lang="en-US" sz="1050" dirty="0">
                <a:solidFill>
                  <a:srgbClr val="8496B4"/>
                </a:solidFill>
                <a:latin typeface="Calibri" pitchFamily="34" charset="0"/>
                <a:ea typeface="Calibri" pitchFamily="34" charset="-122"/>
                <a:cs typeface="Calibri" pitchFamily="34" charset="-120"/>
              </a:rPr>
              <a:t>few, long segments</a:t>
            </a:r>
            <a:endParaRPr lang="en-US" sz="1050" dirty="0"/>
          </a:p>
        </p:txBody>
      </p:sp>
      <p:sp>
        <p:nvSpPr>
          <p:cNvPr id="19" name="Text 17"/>
          <p:cNvSpPr/>
          <p:nvPr/>
        </p:nvSpPr>
        <p:spPr>
          <a:xfrm>
            <a:off x="9381744" y="1609344"/>
            <a:ext cx="182880" cy="365760"/>
          </a:xfrm>
          <a:prstGeom prst="rect">
            <a:avLst/>
          </a:prstGeom>
          <a:noFill/>
          <a:ln/>
        </p:spPr>
        <p:txBody>
          <a:bodyPr wrap="square" lIns="0" tIns="0" rIns="0" bIns="0" rtlCol="0" anchor="ctr"/>
          <a:lstStyle/>
          <a:p>
            <a:pPr algn="ctr" indent="0" marL="0">
              <a:buNone/>
            </a:pPr>
            <a:r>
              <a:rPr lang="en-US" sz="2000" dirty="0">
                <a:solidFill>
                  <a:srgbClr val="F2A63B"/>
                </a:solidFill>
                <a:latin typeface="Calibri" pitchFamily="34" charset="0"/>
                <a:ea typeface="Calibri" pitchFamily="34" charset="-122"/>
                <a:cs typeface="Calibri" pitchFamily="34" charset="-120"/>
              </a:rPr>
              <a:t>›</a:t>
            </a:r>
            <a:endParaRPr lang="en-US" sz="2000" dirty="0"/>
          </a:p>
        </p:txBody>
      </p:sp>
      <p:sp>
        <p:nvSpPr>
          <p:cNvPr id="20" name="Shape 18"/>
          <p:cNvSpPr/>
          <p:nvPr/>
        </p:nvSpPr>
        <p:spPr>
          <a:xfrm>
            <a:off x="9537192" y="1298448"/>
            <a:ext cx="2121408" cy="1060704"/>
          </a:xfrm>
          <a:prstGeom prst="roundRect">
            <a:avLst>
              <a:gd name="adj" fmla="val 5172"/>
            </a:avLst>
          </a:prstGeom>
          <a:solidFill>
            <a:srgbClr val="1B2436"/>
          </a:solidFill>
          <a:ln w="12700">
            <a:solidFill>
              <a:srgbClr val="1B2436"/>
            </a:solidFill>
            <a:prstDash val="solid"/>
          </a:ln>
        </p:spPr>
      </p:sp>
      <p:sp>
        <p:nvSpPr>
          <p:cNvPr id="21" name="Text 19"/>
          <p:cNvSpPr/>
          <p:nvPr/>
        </p:nvSpPr>
        <p:spPr>
          <a:xfrm>
            <a:off x="9665208" y="1472184"/>
            <a:ext cx="1865376" cy="274320"/>
          </a:xfrm>
          <a:prstGeom prst="rect">
            <a:avLst/>
          </a:prstGeom>
          <a:noFill/>
          <a:ln/>
        </p:spPr>
        <p:txBody>
          <a:bodyPr wrap="square" lIns="0" tIns="0" rIns="0" bIns="0" rtlCol="0" anchor="ctr"/>
          <a:lstStyle/>
          <a:p>
            <a:pPr indent="0" marL="0">
              <a:buNone/>
            </a:pPr>
            <a:r>
              <a:rPr lang="en-US" sz="1300" b="1" dirty="0">
                <a:solidFill>
                  <a:srgbClr val="CADCFC"/>
                </a:solidFill>
                <a:latin typeface="Calibri" pitchFamily="34" charset="0"/>
                <a:ea typeface="Calibri" pitchFamily="34" charset="-122"/>
                <a:cs typeface="Calibri" pitchFamily="34" charset="-120"/>
              </a:rPr>
              <a:t>Events JSON</a:t>
            </a:r>
            <a:endParaRPr lang="en-US" sz="1300" dirty="0"/>
          </a:p>
        </p:txBody>
      </p:sp>
      <p:sp>
        <p:nvSpPr>
          <p:cNvPr id="22" name="Text 20"/>
          <p:cNvSpPr/>
          <p:nvPr/>
        </p:nvSpPr>
        <p:spPr>
          <a:xfrm>
            <a:off x="9665208" y="1810512"/>
            <a:ext cx="1865376" cy="384048"/>
          </a:xfrm>
          <a:prstGeom prst="rect">
            <a:avLst/>
          </a:prstGeom>
          <a:noFill/>
          <a:ln/>
        </p:spPr>
        <p:txBody>
          <a:bodyPr wrap="square" lIns="0" tIns="0" rIns="0" bIns="0" rtlCol="0" anchor="ctr"/>
          <a:lstStyle/>
          <a:p>
            <a:pPr indent="0" marL="0">
              <a:buNone/>
            </a:pPr>
            <a:r>
              <a:rPr lang="en-US" sz="1050" dirty="0">
                <a:solidFill>
                  <a:srgbClr val="8496B4"/>
                </a:solidFill>
                <a:latin typeface="Calibri" pitchFamily="34" charset="0"/>
                <a:ea typeface="Calibri" pitchFamily="34" charset="-122"/>
                <a:cs typeface="Calibri" pitchFamily="34" charset="-120"/>
              </a:rPr>
              <a:t>class + interval</a:t>
            </a:r>
            <a:endParaRPr lang="en-US" sz="1050" dirty="0"/>
          </a:p>
        </p:txBody>
      </p:sp>
      <p:sp>
        <p:nvSpPr>
          <p:cNvPr id="23" name="Shape 21"/>
          <p:cNvSpPr/>
          <p:nvPr/>
        </p:nvSpPr>
        <p:spPr>
          <a:xfrm>
            <a:off x="502920" y="2670048"/>
            <a:ext cx="3529584" cy="1481328"/>
          </a:xfrm>
          <a:prstGeom prst="roundRect">
            <a:avLst>
              <a:gd name="adj" fmla="val 3704"/>
            </a:avLst>
          </a:prstGeom>
          <a:solidFill>
            <a:srgbClr val="1B2436"/>
          </a:solidFill>
          <a:ln w="12700">
            <a:solidFill>
              <a:srgbClr val="1B2436"/>
            </a:solidFill>
            <a:prstDash val="solid"/>
          </a:ln>
        </p:spPr>
      </p:sp>
      <p:sp>
        <p:nvSpPr>
          <p:cNvPr id="24" name="Shape 22"/>
          <p:cNvSpPr/>
          <p:nvPr/>
        </p:nvSpPr>
        <p:spPr>
          <a:xfrm>
            <a:off x="685800" y="2852928"/>
            <a:ext cx="274320" cy="274320"/>
          </a:xfrm>
          <a:prstGeom prst="ellipse">
            <a:avLst/>
          </a:prstGeom>
          <a:solidFill>
            <a:srgbClr val="F2A63B"/>
          </a:solidFill>
          <a:ln w="12700">
            <a:solidFill>
              <a:srgbClr val="F2A63B"/>
            </a:solidFill>
            <a:prstDash val="solid"/>
          </a:ln>
        </p:spPr>
      </p:sp>
      <p:sp>
        <p:nvSpPr>
          <p:cNvPr id="25" name="Text 23"/>
          <p:cNvSpPr/>
          <p:nvPr/>
        </p:nvSpPr>
        <p:spPr>
          <a:xfrm>
            <a:off x="685800" y="2871216"/>
            <a:ext cx="274320" cy="237744"/>
          </a:xfrm>
          <a:prstGeom prst="rect">
            <a:avLst/>
          </a:prstGeom>
          <a:noFill/>
          <a:ln/>
        </p:spPr>
        <p:txBody>
          <a:bodyPr wrap="square" lIns="0" tIns="0" rIns="0" bIns="0" rtlCol="0" anchor="ctr"/>
          <a:lstStyle/>
          <a:p>
            <a:pPr algn="ctr" indent="0" marL="0">
              <a:buNone/>
            </a:pPr>
            <a:r>
              <a:rPr lang="en-US" sz="1200" b="1" dirty="0">
                <a:solidFill>
                  <a:srgbClr val="10151F"/>
                </a:solidFill>
                <a:latin typeface="Calibri" pitchFamily="34" charset="0"/>
                <a:ea typeface="Calibri" pitchFamily="34" charset="-122"/>
                <a:cs typeface="Calibri" pitchFamily="34" charset="-120"/>
              </a:rPr>
              <a:t>1</a:t>
            </a:r>
            <a:endParaRPr lang="en-US" sz="1200" dirty="0"/>
          </a:p>
        </p:txBody>
      </p:sp>
      <p:sp>
        <p:nvSpPr>
          <p:cNvPr id="26" name="Text 24"/>
          <p:cNvSpPr/>
          <p:nvPr/>
        </p:nvSpPr>
        <p:spPr>
          <a:xfrm>
            <a:off x="1051560" y="2852928"/>
            <a:ext cx="2798064"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Train data ≠ test data</a:t>
            </a:r>
            <a:endParaRPr lang="en-US" sz="1300" dirty="0"/>
          </a:p>
        </p:txBody>
      </p:sp>
      <p:sp>
        <p:nvSpPr>
          <p:cNvPr id="27" name="Text 25"/>
          <p:cNvSpPr/>
          <p:nvPr/>
        </p:nvSpPr>
        <p:spPr>
          <a:xfrm>
            <a:off x="685800" y="3200400"/>
            <a:ext cx="3163824" cy="841248"/>
          </a:xfrm>
          <a:prstGeom prst="rect">
            <a:avLst/>
          </a:prstGeom>
          <a:noFill/>
          <a:ln/>
        </p:spPr>
        <p:txBody>
          <a:bodyPr wrap="square" lIns="0" tIns="0" rIns="0" bIns="0" rtlCol="0" anchor="ctr"/>
          <a:lstStyle/>
          <a:p>
            <a:pPr indent="0" marL="0">
              <a:lnSpc>
                <a:spcPct val="112000"/>
              </a:lnSpc>
              <a:buNone/>
            </a:pPr>
            <a:r>
              <a:rPr lang="en-US" sz="950" dirty="0">
                <a:solidFill>
                  <a:srgbClr val="CADCFC"/>
                </a:solidFill>
                <a:latin typeface="Calibri" pitchFamily="34" charset="0"/>
                <a:ea typeface="Calibri" pitchFamily="34" charset="-122"/>
                <a:cs typeface="Calibri" pitchFamily="34" charset="-120"/>
              </a:rPr>
              <a:t>Every training clip is ~5 s and single-event. Levels 2–3 are 240–629 s and multi-event. We synthesise long sequences by concatenating clip embeddings, carrying offsets through to exact labels — free supervision for the regime we are scored on.</a:t>
            </a:r>
            <a:endParaRPr lang="en-US" sz="950" dirty="0"/>
          </a:p>
        </p:txBody>
      </p:sp>
      <p:sp>
        <p:nvSpPr>
          <p:cNvPr id="28" name="Shape 26"/>
          <p:cNvSpPr/>
          <p:nvPr/>
        </p:nvSpPr>
        <p:spPr>
          <a:xfrm>
            <a:off x="4315968" y="2670048"/>
            <a:ext cx="3529584" cy="1481328"/>
          </a:xfrm>
          <a:prstGeom prst="roundRect">
            <a:avLst>
              <a:gd name="adj" fmla="val 3704"/>
            </a:avLst>
          </a:prstGeom>
          <a:solidFill>
            <a:srgbClr val="1B2436"/>
          </a:solidFill>
          <a:ln w="12700">
            <a:solidFill>
              <a:srgbClr val="1B2436"/>
            </a:solidFill>
            <a:prstDash val="solid"/>
          </a:ln>
        </p:spPr>
      </p:sp>
      <p:sp>
        <p:nvSpPr>
          <p:cNvPr id="29" name="Shape 27"/>
          <p:cNvSpPr/>
          <p:nvPr/>
        </p:nvSpPr>
        <p:spPr>
          <a:xfrm>
            <a:off x="4498848" y="2852928"/>
            <a:ext cx="274320" cy="274320"/>
          </a:xfrm>
          <a:prstGeom prst="ellipse">
            <a:avLst/>
          </a:prstGeom>
          <a:solidFill>
            <a:srgbClr val="F2A63B"/>
          </a:solidFill>
          <a:ln w="12700">
            <a:solidFill>
              <a:srgbClr val="F2A63B"/>
            </a:solidFill>
            <a:prstDash val="solid"/>
          </a:ln>
        </p:spPr>
      </p:sp>
      <p:sp>
        <p:nvSpPr>
          <p:cNvPr id="30" name="Text 28"/>
          <p:cNvSpPr/>
          <p:nvPr/>
        </p:nvSpPr>
        <p:spPr>
          <a:xfrm>
            <a:off x="4498848" y="2871216"/>
            <a:ext cx="274320" cy="237744"/>
          </a:xfrm>
          <a:prstGeom prst="rect">
            <a:avLst/>
          </a:prstGeom>
          <a:noFill/>
          <a:ln/>
        </p:spPr>
        <p:txBody>
          <a:bodyPr wrap="square" lIns="0" tIns="0" rIns="0" bIns="0" rtlCol="0" anchor="ctr"/>
          <a:lstStyle/>
          <a:p>
            <a:pPr algn="ctr" indent="0" marL="0">
              <a:buNone/>
            </a:pPr>
            <a:r>
              <a:rPr lang="en-US" sz="1200" b="1" dirty="0">
                <a:solidFill>
                  <a:srgbClr val="10151F"/>
                </a:solidFill>
                <a:latin typeface="Calibri" pitchFamily="34" charset="0"/>
                <a:ea typeface="Calibri" pitchFamily="34" charset="-122"/>
                <a:cs typeface="Calibri" pitchFamily="34" charset="-120"/>
              </a:rPr>
              <a:t>2</a:t>
            </a:r>
            <a:endParaRPr lang="en-US" sz="1200" dirty="0"/>
          </a:p>
        </p:txBody>
      </p:sp>
      <p:sp>
        <p:nvSpPr>
          <p:cNvPr id="31" name="Text 29"/>
          <p:cNvSpPr/>
          <p:nvPr/>
        </p:nvSpPr>
        <p:spPr>
          <a:xfrm>
            <a:off x="4864608" y="2852928"/>
            <a:ext cx="2798064"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Dense labels, no MIL</a:t>
            </a:r>
            <a:endParaRPr lang="en-US" sz="1300" dirty="0"/>
          </a:p>
        </p:txBody>
      </p:sp>
      <p:sp>
        <p:nvSpPr>
          <p:cNvPr id="32" name="Text 30"/>
          <p:cNvSpPr/>
          <p:nvPr/>
        </p:nvSpPr>
        <p:spPr>
          <a:xfrm>
            <a:off x="4498848" y="3200400"/>
            <a:ext cx="3163824" cy="841248"/>
          </a:xfrm>
          <a:prstGeom prst="rect">
            <a:avLst/>
          </a:prstGeom>
          <a:noFill/>
          <a:ln/>
        </p:spPr>
        <p:txBody>
          <a:bodyPr wrap="square" lIns="0" tIns="0" rIns="0" bIns="0" rtlCol="0" anchor="ctr"/>
          <a:lstStyle/>
          <a:p>
            <a:pPr indent="0" marL="0">
              <a:lnSpc>
                <a:spcPct val="112000"/>
              </a:lnSpc>
              <a:buNone/>
            </a:pPr>
            <a:r>
              <a:rPr lang="en-US" sz="950" dirty="0">
                <a:solidFill>
                  <a:srgbClr val="CADCFC"/>
                </a:solidFill>
                <a:latin typeface="Calibri" pitchFamily="34" charset="0"/>
                <a:ea typeface="Calibri" pitchFamily="34" charset="-122"/>
                <a:cs typeface="Calibri" pitchFamily="34" charset="-120"/>
              </a:rPr>
              <a:t>Audit showed all 2 200 anomaly rows already carry timestamps, so the planned MIL pooling was unnecessary. But 1 551 span their whole clip, so only ~649 teach boundaries — those get 3× loss weight.</a:t>
            </a:r>
            <a:endParaRPr lang="en-US" sz="950" dirty="0"/>
          </a:p>
        </p:txBody>
      </p:sp>
      <p:sp>
        <p:nvSpPr>
          <p:cNvPr id="33" name="Shape 31"/>
          <p:cNvSpPr/>
          <p:nvPr/>
        </p:nvSpPr>
        <p:spPr>
          <a:xfrm>
            <a:off x="8129016" y="2670048"/>
            <a:ext cx="3529584" cy="1481328"/>
          </a:xfrm>
          <a:prstGeom prst="roundRect">
            <a:avLst>
              <a:gd name="adj" fmla="val 3704"/>
            </a:avLst>
          </a:prstGeom>
          <a:solidFill>
            <a:srgbClr val="1B2436"/>
          </a:solidFill>
          <a:ln w="12700">
            <a:solidFill>
              <a:srgbClr val="1B2436"/>
            </a:solidFill>
            <a:prstDash val="solid"/>
          </a:ln>
        </p:spPr>
      </p:sp>
      <p:sp>
        <p:nvSpPr>
          <p:cNvPr id="34" name="Shape 32"/>
          <p:cNvSpPr/>
          <p:nvPr/>
        </p:nvSpPr>
        <p:spPr>
          <a:xfrm>
            <a:off x="8311896" y="2852928"/>
            <a:ext cx="274320" cy="274320"/>
          </a:xfrm>
          <a:prstGeom prst="ellipse">
            <a:avLst/>
          </a:prstGeom>
          <a:solidFill>
            <a:srgbClr val="F2A63B"/>
          </a:solidFill>
          <a:ln w="12700">
            <a:solidFill>
              <a:srgbClr val="F2A63B"/>
            </a:solidFill>
            <a:prstDash val="solid"/>
          </a:ln>
        </p:spPr>
      </p:sp>
      <p:sp>
        <p:nvSpPr>
          <p:cNvPr id="35" name="Text 33"/>
          <p:cNvSpPr/>
          <p:nvPr/>
        </p:nvSpPr>
        <p:spPr>
          <a:xfrm>
            <a:off x="8311896" y="2871216"/>
            <a:ext cx="274320" cy="237744"/>
          </a:xfrm>
          <a:prstGeom prst="rect">
            <a:avLst/>
          </a:prstGeom>
          <a:noFill/>
          <a:ln/>
        </p:spPr>
        <p:txBody>
          <a:bodyPr wrap="square" lIns="0" tIns="0" rIns="0" bIns="0" rtlCol="0" anchor="ctr"/>
          <a:lstStyle/>
          <a:p>
            <a:pPr algn="ctr" indent="0" marL="0">
              <a:buNone/>
            </a:pPr>
            <a:r>
              <a:rPr lang="en-US" sz="1200" b="1" dirty="0">
                <a:solidFill>
                  <a:srgbClr val="10151F"/>
                </a:solidFill>
                <a:latin typeface="Calibri" pitchFamily="34" charset="0"/>
                <a:ea typeface="Calibri" pitchFamily="34" charset="-122"/>
                <a:cs typeface="Calibri" pitchFamily="34" charset="-120"/>
              </a:rPr>
              <a:t>3</a:t>
            </a:r>
            <a:endParaRPr lang="en-US" sz="1200" dirty="0"/>
          </a:p>
        </p:txBody>
      </p:sp>
      <p:sp>
        <p:nvSpPr>
          <p:cNvPr id="36" name="Text 34"/>
          <p:cNvSpPr/>
          <p:nvPr/>
        </p:nvSpPr>
        <p:spPr>
          <a:xfrm>
            <a:off x="8677656" y="2852928"/>
            <a:ext cx="2798064"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Precision over recall</a:t>
            </a:r>
            <a:endParaRPr lang="en-US" sz="1300" dirty="0"/>
          </a:p>
        </p:txBody>
      </p:sp>
      <p:sp>
        <p:nvSpPr>
          <p:cNvPr id="37" name="Text 35"/>
          <p:cNvSpPr/>
          <p:nvPr/>
        </p:nvSpPr>
        <p:spPr>
          <a:xfrm>
            <a:off x="8311896" y="3200400"/>
            <a:ext cx="3163824" cy="841248"/>
          </a:xfrm>
          <a:prstGeom prst="rect">
            <a:avLst/>
          </a:prstGeom>
          <a:noFill/>
          <a:ln/>
        </p:spPr>
        <p:txBody>
          <a:bodyPr wrap="square" lIns="0" tIns="0" rIns="0" bIns="0" rtlCol="0" anchor="ctr"/>
          <a:lstStyle/>
          <a:p>
            <a:pPr indent="0" marL="0">
              <a:lnSpc>
                <a:spcPct val="112000"/>
              </a:lnSpc>
              <a:buNone/>
            </a:pPr>
            <a:r>
              <a:rPr lang="en-US" sz="950" dirty="0">
                <a:solidFill>
                  <a:srgbClr val="CADCFC"/>
                </a:solidFill>
                <a:latin typeface="Calibri" pitchFamily="34" charset="0"/>
                <a:ea typeface="Calibri" pitchFamily="34" charset="-122"/>
                <a:cs typeface="Calibri" pitchFamily="34" charset="-120"/>
              </a:rPr>
              <a:t>Scoring punishes false alarms far harder than misses. A perfect event set split into five fragments drops L2 from 1.00 to 0.47. So: high enter threshold, 20 s merge gap, few long segments.</a:t>
            </a:r>
            <a:endParaRPr lang="en-US" sz="950" dirty="0"/>
          </a:p>
        </p:txBody>
      </p:sp>
      <p:sp>
        <p:nvSpPr>
          <p:cNvPr id="38" name="Shape 36"/>
          <p:cNvSpPr/>
          <p:nvPr/>
        </p:nvSpPr>
        <p:spPr>
          <a:xfrm>
            <a:off x="502920" y="4370832"/>
            <a:ext cx="2583180" cy="960120"/>
          </a:xfrm>
          <a:prstGeom prst="roundRect">
            <a:avLst>
              <a:gd name="adj" fmla="val 5714"/>
            </a:avLst>
          </a:prstGeom>
          <a:solidFill>
            <a:srgbClr val="222E44"/>
          </a:solidFill>
          <a:ln w="12700">
            <a:solidFill>
              <a:srgbClr val="222E44"/>
            </a:solidFill>
            <a:prstDash val="solid"/>
          </a:ln>
        </p:spPr>
      </p:sp>
      <p:sp>
        <p:nvSpPr>
          <p:cNvPr id="39" name="Text 37"/>
          <p:cNvSpPr/>
          <p:nvPr/>
        </p:nvSpPr>
        <p:spPr>
          <a:xfrm>
            <a:off x="667512" y="4480560"/>
            <a:ext cx="2253996" cy="457200"/>
          </a:xfrm>
          <a:prstGeom prst="rect">
            <a:avLst/>
          </a:prstGeom>
          <a:noFill/>
          <a:ln/>
        </p:spPr>
        <p:txBody>
          <a:bodyPr wrap="square" lIns="0" tIns="0" rIns="0" bIns="0" rtlCol="0" anchor="ctr"/>
          <a:lstStyle/>
          <a:p>
            <a:pPr indent="0" marL="0">
              <a:buNone/>
            </a:pPr>
            <a:r>
              <a:rPr lang="en-US" sz="2600" b="1" dirty="0">
                <a:solidFill>
                  <a:srgbClr val="F2A63B"/>
                </a:solidFill>
                <a:latin typeface="Cambria" pitchFamily="34" charset="0"/>
                <a:ea typeface="Cambria" pitchFamily="34" charset="-122"/>
                <a:cs typeface="Cambria" pitchFamily="34" charset="-120"/>
              </a:rPr>
              <a:t>41.7×</a:t>
            </a:r>
            <a:endParaRPr lang="en-US" sz="2600" dirty="0"/>
          </a:p>
        </p:txBody>
      </p:sp>
      <p:sp>
        <p:nvSpPr>
          <p:cNvPr id="40" name="Text 38"/>
          <p:cNvSpPr/>
          <p:nvPr/>
        </p:nvSpPr>
        <p:spPr>
          <a:xfrm>
            <a:off x="667512" y="4974336"/>
            <a:ext cx="2253996" cy="274320"/>
          </a:xfrm>
          <a:prstGeom prst="rect">
            <a:avLst/>
          </a:prstGeom>
          <a:noFill/>
          <a:ln/>
        </p:spPr>
        <p:txBody>
          <a:bodyPr wrap="square" lIns="0" tIns="0" rIns="0" bIns="0" rtlCol="0" anchor="ctr"/>
          <a:lstStyle/>
          <a:p>
            <a:pPr indent="0" marL="0">
              <a:buNone/>
            </a:pPr>
            <a:r>
              <a:rPr lang="en-US" sz="1050" dirty="0">
                <a:solidFill>
                  <a:srgbClr val="8496B4"/>
                </a:solidFill>
                <a:latin typeface="Calibri" pitchFamily="34" charset="0"/>
                <a:ea typeface="Calibri" pitchFamily="34" charset="-122"/>
                <a:cs typeface="Calibri" pitchFamily="34" charset="-120"/>
              </a:rPr>
              <a:t>faster than realtime</a:t>
            </a:r>
            <a:endParaRPr lang="en-US" sz="1050" dirty="0"/>
          </a:p>
        </p:txBody>
      </p:sp>
      <p:sp>
        <p:nvSpPr>
          <p:cNvPr id="41" name="Shape 39"/>
          <p:cNvSpPr/>
          <p:nvPr/>
        </p:nvSpPr>
        <p:spPr>
          <a:xfrm>
            <a:off x="3360420" y="4370832"/>
            <a:ext cx="2583180" cy="960120"/>
          </a:xfrm>
          <a:prstGeom prst="roundRect">
            <a:avLst>
              <a:gd name="adj" fmla="val 5714"/>
            </a:avLst>
          </a:prstGeom>
          <a:solidFill>
            <a:srgbClr val="222E44"/>
          </a:solidFill>
          <a:ln w="12700">
            <a:solidFill>
              <a:srgbClr val="222E44"/>
            </a:solidFill>
            <a:prstDash val="solid"/>
          </a:ln>
        </p:spPr>
      </p:sp>
      <p:sp>
        <p:nvSpPr>
          <p:cNvPr id="42" name="Text 40"/>
          <p:cNvSpPr/>
          <p:nvPr/>
        </p:nvSpPr>
        <p:spPr>
          <a:xfrm>
            <a:off x="3525012" y="4480560"/>
            <a:ext cx="2253996" cy="457200"/>
          </a:xfrm>
          <a:prstGeom prst="rect">
            <a:avLst/>
          </a:prstGeom>
          <a:noFill/>
          <a:ln/>
        </p:spPr>
        <p:txBody>
          <a:bodyPr wrap="square" lIns="0" tIns="0" rIns="0" bIns="0" rtlCol="0" anchor="ctr"/>
          <a:lstStyle/>
          <a:p>
            <a:pPr indent="0" marL="0">
              <a:buNone/>
            </a:pPr>
            <a:r>
              <a:rPr lang="en-US" sz="2600" b="1" dirty="0">
                <a:solidFill>
                  <a:srgbClr val="F2A63B"/>
                </a:solidFill>
                <a:latin typeface="Cambria" pitchFamily="34" charset="0"/>
                <a:ea typeface="Cambria" pitchFamily="34" charset="-122"/>
                <a:cs typeface="Cambria" pitchFamily="34" charset="-120"/>
              </a:rPr>
              <a:t>0.024</a:t>
            </a:r>
            <a:endParaRPr lang="en-US" sz="2600" dirty="0"/>
          </a:p>
        </p:txBody>
      </p:sp>
      <p:sp>
        <p:nvSpPr>
          <p:cNvPr id="43" name="Text 41"/>
          <p:cNvSpPr/>
          <p:nvPr/>
        </p:nvSpPr>
        <p:spPr>
          <a:xfrm>
            <a:off x="3525012" y="4974336"/>
            <a:ext cx="2253996" cy="274320"/>
          </a:xfrm>
          <a:prstGeom prst="rect">
            <a:avLst/>
          </a:prstGeom>
          <a:noFill/>
          <a:ln/>
        </p:spPr>
        <p:txBody>
          <a:bodyPr wrap="square" lIns="0" tIns="0" rIns="0" bIns="0" rtlCol="0" anchor="ctr"/>
          <a:lstStyle/>
          <a:p>
            <a:pPr indent="0" marL="0">
              <a:buNone/>
            </a:pPr>
            <a:r>
              <a:rPr lang="en-US" sz="1050" dirty="0">
                <a:solidFill>
                  <a:srgbClr val="8496B4"/>
                </a:solidFill>
                <a:latin typeface="Calibri" pitchFamily="34" charset="0"/>
                <a:ea typeface="Calibri" pitchFamily="34" charset="-122"/>
                <a:cs typeface="Calibri" pitchFamily="34" charset="-120"/>
              </a:rPr>
              <a:t>processing ÷ video duration</a:t>
            </a:r>
            <a:endParaRPr lang="en-US" sz="1050" dirty="0"/>
          </a:p>
        </p:txBody>
      </p:sp>
      <p:sp>
        <p:nvSpPr>
          <p:cNvPr id="44" name="Shape 42"/>
          <p:cNvSpPr/>
          <p:nvPr/>
        </p:nvSpPr>
        <p:spPr>
          <a:xfrm>
            <a:off x="6217920" y="4370832"/>
            <a:ext cx="2583180" cy="960120"/>
          </a:xfrm>
          <a:prstGeom prst="roundRect">
            <a:avLst>
              <a:gd name="adj" fmla="val 5714"/>
            </a:avLst>
          </a:prstGeom>
          <a:solidFill>
            <a:srgbClr val="222E44"/>
          </a:solidFill>
          <a:ln w="12700">
            <a:solidFill>
              <a:srgbClr val="222E44"/>
            </a:solidFill>
            <a:prstDash val="solid"/>
          </a:ln>
        </p:spPr>
      </p:sp>
      <p:sp>
        <p:nvSpPr>
          <p:cNvPr id="45" name="Text 43"/>
          <p:cNvSpPr/>
          <p:nvPr/>
        </p:nvSpPr>
        <p:spPr>
          <a:xfrm>
            <a:off x="6382512" y="4480560"/>
            <a:ext cx="2253996" cy="457200"/>
          </a:xfrm>
          <a:prstGeom prst="rect">
            <a:avLst/>
          </a:prstGeom>
          <a:noFill/>
          <a:ln/>
        </p:spPr>
        <p:txBody>
          <a:bodyPr wrap="square" lIns="0" tIns="0" rIns="0" bIns="0" rtlCol="0" anchor="ctr"/>
          <a:lstStyle/>
          <a:p>
            <a:pPr indent="0" marL="0">
              <a:buNone/>
            </a:pPr>
            <a:r>
              <a:rPr lang="en-US" sz="2600" b="1" dirty="0">
                <a:solidFill>
                  <a:srgbClr val="F2A63B"/>
                </a:solidFill>
                <a:latin typeface="Cambria" pitchFamily="34" charset="0"/>
                <a:ea typeface="Cambria" pitchFamily="34" charset="-122"/>
                <a:cs typeface="Cambria" pitchFamily="34" charset="-120"/>
              </a:rPr>
              <a:t>2.18 M</a:t>
            </a:r>
            <a:endParaRPr lang="en-US" sz="2600" dirty="0"/>
          </a:p>
        </p:txBody>
      </p:sp>
      <p:sp>
        <p:nvSpPr>
          <p:cNvPr id="46" name="Text 44"/>
          <p:cNvSpPr/>
          <p:nvPr/>
        </p:nvSpPr>
        <p:spPr>
          <a:xfrm>
            <a:off x="6382512" y="4974336"/>
            <a:ext cx="2253996" cy="274320"/>
          </a:xfrm>
          <a:prstGeom prst="rect">
            <a:avLst/>
          </a:prstGeom>
          <a:noFill/>
          <a:ln/>
        </p:spPr>
        <p:txBody>
          <a:bodyPr wrap="square" lIns="0" tIns="0" rIns="0" bIns="0" rtlCol="0" anchor="ctr"/>
          <a:lstStyle/>
          <a:p>
            <a:pPr indent="0" marL="0">
              <a:buNone/>
            </a:pPr>
            <a:r>
              <a:rPr lang="en-US" sz="1050" dirty="0">
                <a:solidFill>
                  <a:srgbClr val="8496B4"/>
                </a:solidFill>
                <a:latin typeface="Calibri" pitchFamily="34" charset="0"/>
                <a:ea typeface="Calibri" pitchFamily="34" charset="-122"/>
                <a:cs typeface="Calibri" pitchFamily="34" charset="-120"/>
              </a:rPr>
              <a:t>runtime parameters in the head</a:t>
            </a:r>
            <a:endParaRPr lang="en-US" sz="1050" dirty="0"/>
          </a:p>
        </p:txBody>
      </p:sp>
      <p:sp>
        <p:nvSpPr>
          <p:cNvPr id="47" name="Shape 45"/>
          <p:cNvSpPr/>
          <p:nvPr/>
        </p:nvSpPr>
        <p:spPr>
          <a:xfrm>
            <a:off x="9075420" y="4370832"/>
            <a:ext cx="2583180" cy="960120"/>
          </a:xfrm>
          <a:prstGeom prst="roundRect">
            <a:avLst>
              <a:gd name="adj" fmla="val 5714"/>
            </a:avLst>
          </a:prstGeom>
          <a:solidFill>
            <a:srgbClr val="222E44"/>
          </a:solidFill>
          <a:ln w="12700">
            <a:solidFill>
              <a:srgbClr val="222E44"/>
            </a:solidFill>
            <a:prstDash val="solid"/>
          </a:ln>
        </p:spPr>
      </p:sp>
      <p:sp>
        <p:nvSpPr>
          <p:cNvPr id="48" name="Text 46"/>
          <p:cNvSpPr/>
          <p:nvPr/>
        </p:nvSpPr>
        <p:spPr>
          <a:xfrm>
            <a:off x="9240012" y="4480560"/>
            <a:ext cx="2253996" cy="457200"/>
          </a:xfrm>
          <a:prstGeom prst="rect">
            <a:avLst/>
          </a:prstGeom>
          <a:noFill/>
          <a:ln/>
        </p:spPr>
        <p:txBody>
          <a:bodyPr wrap="square" lIns="0" tIns="0" rIns="0" bIns="0" rtlCol="0" anchor="ctr"/>
          <a:lstStyle/>
          <a:p>
            <a:pPr indent="0" marL="0">
              <a:buNone/>
            </a:pPr>
            <a:r>
              <a:rPr lang="en-US" sz="2600" b="1" dirty="0">
                <a:solidFill>
                  <a:srgbClr val="F2A63B"/>
                </a:solidFill>
                <a:latin typeface="Cambria" pitchFamily="34" charset="0"/>
                <a:ea typeface="Cambria" pitchFamily="34" charset="-122"/>
                <a:cs typeface="Cambria" pitchFamily="34" charset="-120"/>
              </a:rPr>
              <a:t>0</a:t>
            </a:r>
            <a:endParaRPr lang="en-US" sz="2600" dirty="0"/>
          </a:p>
        </p:txBody>
      </p:sp>
      <p:sp>
        <p:nvSpPr>
          <p:cNvPr id="49" name="Text 47"/>
          <p:cNvSpPr/>
          <p:nvPr/>
        </p:nvSpPr>
        <p:spPr>
          <a:xfrm>
            <a:off x="9240012" y="4974336"/>
            <a:ext cx="2253996" cy="274320"/>
          </a:xfrm>
          <a:prstGeom prst="rect">
            <a:avLst/>
          </a:prstGeom>
          <a:noFill/>
          <a:ln/>
        </p:spPr>
        <p:txBody>
          <a:bodyPr wrap="square" lIns="0" tIns="0" rIns="0" bIns="0" rtlCol="0" anchor="ctr"/>
          <a:lstStyle/>
          <a:p>
            <a:pPr indent="0" marL="0">
              <a:buNone/>
            </a:pPr>
            <a:r>
              <a:rPr lang="en-US" sz="1050" dirty="0">
                <a:solidFill>
                  <a:srgbClr val="8496B4"/>
                </a:solidFill>
                <a:latin typeface="Calibri" pitchFamily="34" charset="0"/>
                <a:ea typeface="Calibri" pitchFamily="34" charset="-122"/>
                <a:cs typeface="Calibri" pitchFamily="34" charset="-120"/>
              </a:rPr>
              <a:t>hosted models at inference</a:t>
            </a:r>
            <a:endParaRPr lang="en-US" sz="1050" dirty="0"/>
          </a:p>
        </p:txBody>
      </p:sp>
      <p:sp>
        <p:nvSpPr>
          <p:cNvPr id="50" name="Text 48"/>
          <p:cNvSpPr/>
          <p:nvPr/>
        </p:nvSpPr>
        <p:spPr>
          <a:xfrm>
            <a:off x="502920" y="5532120"/>
            <a:ext cx="11155680" cy="411480"/>
          </a:xfrm>
          <a:prstGeom prst="rect">
            <a:avLst/>
          </a:prstGeom>
          <a:noFill/>
          <a:ln/>
        </p:spPr>
        <p:txBody>
          <a:bodyPr wrap="square" lIns="0" tIns="0" rIns="0" bIns="0" rtlCol="0" anchor="ctr"/>
          <a:lstStyle/>
          <a:p>
            <a:pPr indent="0" marL="0">
              <a:buNone/>
            </a:pPr>
            <a:r>
              <a:rPr lang="en-US" sz="1100" i="1" dirty="0">
                <a:solidFill>
                  <a:srgbClr val="8496B4"/>
                </a:solidFill>
                <a:latin typeface="Calibri" pitchFamily="34" charset="0"/>
                <a:ea typeface="Calibri" pitchFamily="34" charset="-122"/>
                <a:cs typeface="Calibri" pitchFamily="34" charset="-120"/>
              </a:rPr>
              <a:t>Why this shape: Stage A alone is a complete submission. A heavier verifier could sit on top of its candidate segments — we built one and measured it, and zero-shot Qwen3-VL scored 1/6 where this head scored 3/6, at 7.4× the latency. We shipped without it.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0151F"/>
        </a:solidFill>
      </p:bgPr>
    </p:bg>
    <p:spTree>
      <p:nvGrpSpPr>
        <p:cNvPr id="1" name=""/>
        <p:cNvGrpSpPr/>
        <p:nvPr/>
      </p:nvGrpSpPr>
      <p:grpSpPr>
        <a:xfrm>
          <a:off x="0" y="0"/>
          <a:ext cx="0" cy="0"/>
          <a:chOff x="0" y="0"/>
          <a:chExt cx="0" cy="0"/>
        </a:xfrm>
      </p:grpSpPr>
      <p:sp>
        <p:nvSpPr>
          <p:cNvPr id="2" name="Text 0"/>
          <p:cNvSpPr/>
          <p:nvPr/>
        </p:nvSpPr>
        <p:spPr>
          <a:xfrm>
            <a:off x="502920" y="310896"/>
            <a:ext cx="11155680" cy="457200"/>
          </a:xfrm>
          <a:prstGeom prst="rect">
            <a:avLst/>
          </a:prstGeom>
          <a:noFill/>
          <a:ln/>
        </p:spPr>
        <p:txBody>
          <a:bodyPr wrap="square" lIns="0" tIns="0" rIns="0" bIns="0" rtlCol="0" anchor="ctr"/>
          <a:lstStyle/>
          <a:p>
            <a:pPr indent="0" marL="0">
              <a:buNone/>
            </a:pPr>
            <a:r>
              <a:rPr lang="en-US" sz="2700" b="1" dirty="0">
                <a:solidFill>
                  <a:srgbClr val="FFFFFF"/>
                </a:solidFill>
                <a:latin typeface="Cambria" pitchFamily="34" charset="0"/>
                <a:ea typeface="Cambria" pitchFamily="34" charset="-122"/>
                <a:cs typeface="Cambria" pitchFamily="34" charset="-120"/>
              </a:rPr>
              <a:t>Private evaluation set: 61.8 / 100, 2nd place</a:t>
            </a:r>
            <a:endParaRPr lang="en-US" sz="2700" dirty="0"/>
          </a:p>
        </p:txBody>
      </p:sp>
      <p:sp>
        <p:nvSpPr>
          <p:cNvPr id="3" name="Text 1"/>
          <p:cNvSpPr/>
          <p:nvPr/>
        </p:nvSpPr>
        <p:spPr>
          <a:xfrm>
            <a:off x="502920" y="795528"/>
            <a:ext cx="11155680" cy="292608"/>
          </a:xfrm>
          <a:prstGeom prst="rect">
            <a:avLst/>
          </a:prstGeom>
          <a:noFill/>
          <a:ln/>
        </p:spPr>
        <p:txBody>
          <a:bodyPr wrap="square" lIns="0" tIns="0" rIns="0" bIns="0" rtlCol="0" anchor="ctr"/>
          <a:lstStyle/>
          <a:p>
            <a:pPr indent="0" marL="0">
              <a:buNone/>
            </a:pPr>
            <a:r>
              <a:rPr lang="en-US" sz="1300" dirty="0">
                <a:solidFill>
                  <a:srgbClr val="8496B4"/>
                </a:solidFill>
                <a:latin typeface="Calibri" pitchFamily="34" charset="0"/>
                <a:ea typeface="Calibri" pitchFamily="34" charset="-122"/>
                <a:cs typeface="Calibri" pitchFamily="34" charset="-120"/>
              </a:rPr>
              <a:t>From 37.2 to 61.8 in one afternoon — and almost none of it came from a better model.</a:t>
            </a:r>
            <a:endParaRPr lang="en-US" sz="1300" dirty="0"/>
          </a:p>
        </p:txBody>
      </p:sp>
      <p:sp>
        <p:nvSpPr>
          <p:cNvPr id="4" name="Shape 2"/>
          <p:cNvSpPr/>
          <p:nvPr/>
        </p:nvSpPr>
        <p:spPr>
          <a:xfrm>
            <a:off x="502920" y="1280160"/>
            <a:ext cx="2578608" cy="1298448"/>
          </a:xfrm>
          <a:prstGeom prst="roundRect">
            <a:avLst>
              <a:gd name="adj" fmla="val 4225"/>
            </a:avLst>
          </a:prstGeom>
          <a:solidFill>
            <a:srgbClr val="222E44"/>
          </a:solidFill>
          <a:ln w="12700">
            <a:solidFill>
              <a:srgbClr val="222E44"/>
            </a:solidFill>
            <a:prstDash val="solid"/>
          </a:ln>
        </p:spPr>
      </p:sp>
      <p:sp>
        <p:nvSpPr>
          <p:cNvPr id="5" name="Text 3"/>
          <p:cNvSpPr/>
          <p:nvPr/>
        </p:nvSpPr>
        <p:spPr>
          <a:xfrm>
            <a:off x="667512" y="1389888"/>
            <a:ext cx="2249424" cy="237744"/>
          </a:xfrm>
          <a:prstGeom prst="rect">
            <a:avLst/>
          </a:prstGeom>
          <a:noFill/>
          <a:ln/>
        </p:spPr>
        <p:txBody>
          <a:bodyPr wrap="square" lIns="0" tIns="0" rIns="0" bIns="0" rtlCol="0" anchor="ctr"/>
          <a:lstStyle/>
          <a:p>
            <a:pPr indent="0" marL="0">
              <a:buNone/>
            </a:pPr>
            <a:r>
              <a:rPr lang="en-US" sz="1100" dirty="0">
                <a:solidFill>
                  <a:srgbClr val="8496B4"/>
                </a:solidFill>
                <a:latin typeface="Calibri" pitchFamily="34" charset="0"/>
                <a:ea typeface="Calibri" pitchFamily="34" charset="-122"/>
                <a:cs typeface="Calibri" pitchFamily="34" charset="-120"/>
              </a:rPr>
              <a:t>D1 Clear event</a:t>
            </a:r>
            <a:endParaRPr lang="en-US" sz="1100" dirty="0"/>
          </a:p>
        </p:txBody>
      </p:sp>
      <p:sp>
        <p:nvSpPr>
          <p:cNvPr id="6" name="Text 4"/>
          <p:cNvSpPr/>
          <p:nvPr/>
        </p:nvSpPr>
        <p:spPr>
          <a:xfrm>
            <a:off x="667512" y="1682496"/>
            <a:ext cx="2249424" cy="512064"/>
          </a:xfrm>
          <a:prstGeom prst="rect">
            <a:avLst/>
          </a:prstGeom>
          <a:noFill/>
          <a:ln/>
        </p:spPr>
        <p:txBody>
          <a:bodyPr wrap="square" lIns="0" tIns="0" rIns="0" bIns="0" rtlCol="0" anchor="ctr"/>
          <a:lstStyle/>
          <a:p>
            <a:pPr indent="0" marL="0">
              <a:buNone/>
            </a:pPr>
            <a:r>
              <a:rPr lang="en-US" sz="3000" b="1" dirty="0">
                <a:solidFill>
                  <a:srgbClr val="F2A63B"/>
                </a:solidFill>
                <a:latin typeface="Cambria" pitchFamily="34" charset="0"/>
                <a:ea typeface="Cambria" pitchFamily="34" charset="-122"/>
                <a:cs typeface="Cambria" pitchFamily="34" charset="-120"/>
              </a:rPr>
              <a:t>14.5</a:t>
            </a:r>
            <a:pPr indent="0" marL="0">
              <a:buNone/>
            </a:pPr>
            <a:r>
              <a:rPr lang="en-US" sz="1300" dirty="0">
                <a:solidFill>
                  <a:srgbClr val="8496B4"/>
                </a:solidFill>
                <a:latin typeface="Cambria" pitchFamily="34" charset="0"/>
                <a:ea typeface="Cambria" pitchFamily="34" charset="-122"/>
                <a:cs typeface="Cambria" pitchFamily="34" charset="-120"/>
              </a:rPr>
              <a:t>  / 25</a:t>
            </a:r>
            <a:endParaRPr lang="en-US" sz="3000" dirty="0"/>
          </a:p>
        </p:txBody>
      </p:sp>
      <p:sp>
        <p:nvSpPr>
          <p:cNvPr id="7" name="Text 5"/>
          <p:cNvSpPr/>
          <p:nvPr/>
        </p:nvSpPr>
        <p:spPr>
          <a:xfrm>
            <a:off x="667512" y="2231136"/>
            <a:ext cx="2249424" cy="237744"/>
          </a:xfrm>
          <a:prstGeom prst="rect">
            <a:avLst/>
          </a:prstGeom>
          <a:noFill/>
          <a:ln/>
        </p:spPr>
        <p:txBody>
          <a:bodyPr wrap="square" lIns="0" tIns="0" rIns="0" bIns="0" rtlCol="0" anchor="ctr"/>
          <a:lstStyle/>
          <a:p>
            <a:pPr indent="0" marL="0">
              <a:buNone/>
            </a:pPr>
            <a:r>
              <a:rPr lang="en-US" sz="1000" dirty="0">
                <a:solidFill>
                  <a:srgbClr val="5FCB8E"/>
                </a:solidFill>
                <a:latin typeface="Calibri" pitchFamily="34" charset="0"/>
                <a:ea typeface="Calibri" pitchFamily="34" charset="-122"/>
                <a:cs typeface="Calibri" pitchFamily="34" charset="-120"/>
              </a:rPr>
              <a:t>was 11.8</a:t>
            </a:r>
            <a:endParaRPr lang="en-US" sz="1000" dirty="0"/>
          </a:p>
        </p:txBody>
      </p:sp>
      <p:sp>
        <p:nvSpPr>
          <p:cNvPr id="8" name="Shape 6"/>
          <p:cNvSpPr/>
          <p:nvPr/>
        </p:nvSpPr>
        <p:spPr>
          <a:xfrm>
            <a:off x="3364992" y="1280160"/>
            <a:ext cx="2578608" cy="1298448"/>
          </a:xfrm>
          <a:prstGeom prst="roundRect">
            <a:avLst>
              <a:gd name="adj" fmla="val 4225"/>
            </a:avLst>
          </a:prstGeom>
          <a:solidFill>
            <a:srgbClr val="222E44"/>
          </a:solidFill>
          <a:ln w="12700">
            <a:solidFill>
              <a:srgbClr val="222E44"/>
            </a:solidFill>
            <a:prstDash val="solid"/>
          </a:ln>
        </p:spPr>
      </p:sp>
      <p:sp>
        <p:nvSpPr>
          <p:cNvPr id="9" name="Text 7"/>
          <p:cNvSpPr/>
          <p:nvPr/>
        </p:nvSpPr>
        <p:spPr>
          <a:xfrm>
            <a:off x="3529584" y="1389888"/>
            <a:ext cx="2249424" cy="237744"/>
          </a:xfrm>
          <a:prstGeom prst="rect">
            <a:avLst/>
          </a:prstGeom>
          <a:noFill/>
          <a:ln/>
        </p:spPr>
        <p:txBody>
          <a:bodyPr wrap="square" lIns="0" tIns="0" rIns="0" bIns="0" rtlCol="0" anchor="ctr"/>
          <a:lstStyle/>
          <a:p>
            <a:pPr indent="0" marL="0">
              <a:buNone/>
            </a:pPr>
            <a:r>
              <a:rPr lang="en-US" sz="1100" dirty="0">
                <a:solidFill>
                  <a:srgbClr val="8496B4"/>
                </a:solidFill>
                <a:latin typeface="Calibri" pitchFamily="34" charset="0"/>
                <a:ea typeface="Calibri" pitchFamily="34" charset="-122"/>
                <a:cs typeface="Calibri" pitchFamily="34" charset="-120"/>
              </a:rPr>
              <a:t>D2 When it happens</a:t>
            </a:r>
            <a:endParaRPr lang="en-US" sz="1100" dirty="0"/>
          </a:p>
        </p:txBody>
      </p:sp>
      <p:sp>
        <p:nvSpPr>
          <p:cNvPr id="10" name="Text 8"/>
          <p:cNvSpPr/>
          <p:nvPr/>
        </p:nvSpPr>
        <p:spPr>
          <a:xfrm>
            <a:off x="3529584" y="1682496"/>
            <a:ext cx="2249424" cy="512064"/>
          </a:xfrm>
          <a:prstGeom prst="rect">
            <a:avLst/>
          </a:prstGeom>
          <a:noFill/>
          <a:ln/>
        </p:spPr>
        <p:txBody>
          <a:bodyPr wrap="square" lIns="0" tIns="0" rIns="0" bIns="0" rtlCol="0" anchor="ctr"/>
          <a:lstStyle/>
          <a:p>
            <a:pPr indent="0" marL="0">
              <a:buNone/>
            </a:pPr>
            <a:r>
              <a:rPr lang="en-US" sz="3000" b="1" dirty="0">
                <a:solidFill>
                  <a:srgbClr val="F2A63B"/>
                </a:solidFill>
                <a:latin typeface="Cambria" pitchFamily="34" charset="0"/>
                <a:ea typeface="Cambria" pitchFamily="34" charset="-122"/>
                <a:cs typeface="Cambria" pitchFamily="34" charset="-120"/>
              </a:rPr>
              <a:t>27.6</a:t>
            </a:r>
            <a:pPr indent="0" marL="0">
              <a:buNone/>
            </a:pPr>
            <a:r>
              <a:rPr lang="en-US" sz="1300" dirty="0">
                <a:solidFill>
                  <a:srgbClr val="8496B4"/>
                </a:solidFill>
                <a:latin typeface="Cambria" pitchFamily="34" charset="0"/>
                <a:ea typeface="Cambria" pitchFamily="34" charset="-122"/>
                <a:cs typeface="Cambria" pitchFamily="34" charset="-120"/>
              </a:rPr>
              <a:t>  / 35</a:t>
            </a:r>
            <a:endParaRPr lang="en-US" sz="3000" dirty="0"/>
          </a:p>
        </p:txBody>
      </p:sp>
      <p:sp>
        <p:nvSpPr>
          <p:cNvPr id="11" name="Text 9"/>
          <p:cNvSpPr/>
          <p:nvPr/>
        </p:nvSpPr>
        <p:spPr>
          <a:xfrm>
            <a:off x="3529584" y="2231136"/>
            <a:ext cx="2249424" cy="237744"/>
          </a:xfrm>
          <a:prstGeom prst="rect">
            <a:avLst/>
          </a:prstGeom>
          <a:noFill/>
          <a:ln/>
        </p:spPr>
        <p:txBody>
          <a:bodyPr wrap="square" lIns="0" tIns="0" rIns="0" bIns="0" rtlCol="0" anchor="ctr"/>
          <a:lstStyle/>
          <a:p>
            <a:pPr indent="0" marL="0">
              <a:buNone/>
            </a:pPr>
            <a:r>
              <a:rPr lang="en-US" sz="1000" dirty="0">
                <a:solidFill>
                  <a:srgbClr val="5FCB8E"/>
                </a:solidFill>
                <a:latin typeface="Calibri" pitchFamily="34" charset="0"/>
                <a:ea typeface="Calibri" pitchFamily="34" charset="-122"/>
                <a:cs typeface="Calibri" pitchFamily="34" charset="-120"/>
              </a:rPr>
              <a:t>was 16.1 · best on board</a:t>
            </a:r>
            <a:endParaRPr lang="en-US" sz="1000" dirty="0"/>
          </a:p>
        </p:txBody>
      </p:sp>
      <p:sp>
        <p:nvSpPr>
          <p:cNvPr id="12" name="Shape 10"/>
          <p:cNvSpPr/>
          <p:nvPr/>
        </p:nvSpPr>
        <p:spPr>
          <a:xfrm>
            <a:off x="6227064" y="1280160"/>
            <a:ext cx="2578608" cy="1298448"/>
          </a:xfrm>
          <a:prstGeom prst="roundRect">
            <a:avLst>
              <a:gd name="adj" fmla="val 4225"/>
            </a:avLst>
          </a:prstGeom>
          <a:solidFill>
            <a:srgbClr val="222E44"/>
          </a:solidFill>
          <a:ln w="12700">
            <a:solidFill>
              <a:srgbClr val="222E44"/>
            </a:solidFill>
            <a:prstDash val="solid"/>
          </a:ln>
        </p:spPr>
      </p:sp>
      <p:sp>
        <p:nvSpPr>
          <p:cNvPr id="13" name="Text 11"/>
          <p:cNvSpPr/>
          <p:nvPr/>
        </p:nvSpPr>
        <p:spPr>
          <a:xfrm>
            <a:off x="6391656" y="1389888"/>
            <a:ext cx="2249424" cy="237744"/>
          </a:xfrm>
          <a:prstGeom prst="rect">
            <a:avLst/>
          </a:prstGeom>
          <a:noFill/>
          <a:ln/>
        </p:spPr>
        <p:txBody>
          <a:bodyPr wrap="square" lIns="0" tIns="0" rIns="0" bIns="0" rtlCol="0" anchor="ctr"/>
          <a:lstStyle/>
          <a:p>
            <a:pPr indent="0" marL="0">
              <a:buNone/>
            </a:pPr>
            <a:r>
              <a:rPr lang="en-US" sz="1100" dirty="0">
                <a:solidFill>
                  <a:srgbClr val="8496B4"/>
                </a:solidFill>
                <a:latin typeface="Calibri" pitchFamily="34" charset="0"/>
                <a:ea typeface="Calibri" pitchFamily="34" charset="-122"/>
                <a:cs typeface="Calibri" pitchFamily="34" charset="-120"/>
              </a:rPr>
              <a:t>D3 Long context</a:t>
            </a:r>
            <a:endParaRPr lang="en-US" sz="1100" dirty="0"/>
          </a:p>
        </p:txBody>
      </p:sp>
      <p:sp>
        <p:nvSpPr>
          <p:cNvPr id="14" name="Text 12"/>
          <p:cNvSpPr/>
          <p:nvPr/>
        </p:nvSpPr>
        <p:spPr>
          <a:xfrm>
            <a:off x="6391656" y="1682496"/>
            <a:ext cx="2249424" cy="512064"/>
          </a:xfrm>
          <a:prstGeom prst="rect">
            <a:avLst/>
          </a:prstGeom>
          <a:noFill/>
          <a:ln/>
        </p:spPr>
        <p:txBody>
          <a:bodyPr wrap="square" lIns="0" tIns="0" rIns="0" bIns="0" rtlCol="0" anchor="ctr"/>
          <a:lstStyle/>
          <a:p>
            <a:pPr indent="0" marL="0">
              <a:buNone/>
            </a:pPr>
            <a:r>
              <a:rPr lang="en-US" sz="3000" b="1" dirty="0">
                <a:solidFill>
                  <a:srgbClr val="F2A63B"/>
                </a:solidFill>
                <a:latin typeface="Cambria" pitchFamily="34" charset="0"/>
                <a:ea typeface="Cambria" pitchFamily="34" charset="-122"/>
                <a:cs typeface="Cambria" pitchFamily="34" charset="-120"/>
              </a:rPr>
              <a:t>19.7</a:t>
            </a:r>
            <a:pPr indent="0" marL="0">
              <a:buNone/>
            </a:pPr>
            <a:r>
              <a:rPr lang="en-US" sz="1300" dirty="0">
                <a:solidFill>
                  <a:srgbClr val="8496B4"/>
                </a:solidFill>
                <a:latin typeface="Cambria" pitchFamily="34" charset="0"/>
                <a:ea typeface="Cambria" pitchFamily="34" charset="-122"/>
                <a:cs typeface="Cambria" pitchFamily="34" charset="-120"/>
              </a:rPr>
              <a:t>  / 40</a:t>
            </a:r>
            <a:endParaRPr lang="en-US" sz="3000" dirty="0"/>
          </a:p>
        </p:txBody>
      </p:sp>
      <p:sp>
        <p:nvSpPr>
          <p:cNvPr id="15" name="Text 13"/>
          <p:cNvSpPr/>
          <p:nvPr/>
        </p:nvSpPr>
        <p:spPr>
          <a:xfrm>
            <a:off x="6391656" y="2231136"/>
            <a:ext cx="2249424" cy="237744"/>
          </a:xfrm>
          <a:prstGeom prst="rect">
            <a:avLst/>
          </a:prstGeom>
          <a:noFill/>
          <a:ln/>
        </p:spPr>
        <p:txBody>
          <a:bodyPr wrap="square" lIns="0" tIns="0" rIns="0" bIns="0" rtlCol="0" anchor="ctr"/>
          <a:lstStyle/>
          <a:p>
            <a:pPr indent="0" marL="0">
              <a:buNone/>
            </a:pPr>
            <a:r>
              <a:rPr lang="en-US" sz="1000" dirty="0">
                <a:solidFill>
                  <a:srgbClr val="5FCB8E"/>
                </a:solidFill>
                <a:latin typeface="Calibri" pitchFamily="34" charset="0"/>
                <a:ea typeface="Calibri" pitchFamily="34" charset="-122"/>
                <a:cs typeface="Calibri" pitchFamily="34" charset="-120"/>
              </a:rPr>
              <a:t>was 16.3 · recall 5 of 6</a:t>
            </a:r>
            <a:endParaRPr lang="en-US" sz="1000" dirty="0"/>
          </a:p>
        </p:txBody>
      </p:sp>
      <p:sp>
        <p:nvSpPr>
          <p:cNvPr id="16" name="Shape 14"/>
          <p:cNvSpPr/>
          <p:nvPr/>
        </p:nvSpPr>
        <p:spPr>
          <a:xfrm>
            <a:off x="9089136" y="1280160"/>
            <a:ext cx="2569464" cy="1298448"/>
          </a:xfrm>
          <a:prstGeom prst="roundRect">
            <a:avLst>
              <a:gd name="adj" fmla="val 4225"/>
            </a:avLst>
          </a:prstGeom>
          <a:solidFill>
            <a:srgbClr val="222E44"/>
          </a:solidFill>
          <a:ln w="12700">
            <a:solidFill>
              <a:srgbClr val="222E44"/>
            </a:solidFill>
            <a:prstDash val="solid"/>
          </a:ln>
        </p:spPr>
      </p:sp>
      <p:sp>
        <p:nvSpPr>
          <p:cNvPr id="17" name="Text 15"/>
          <p:cNvSpPr/>
          <p:nvPr/>
        </p:nvSpPr>
        <p:spPr>
          <a:xfrm>
            <a:off x="9253728" y="1389888"/>
            <a:ext cx="2240280" cy="237744"/>
          </a:xfrm>
          <a:prstGeom prst="rect">
            <a:avLst/>
          </a:prstGeom>
          <a:noFill/>
          <a:ln/>
        </p:spPr>
        <p:txBody>
          <a:bodyPr wrap="square" lIns="0" tIns="0" rIns="0" bIns="0" rtlCol="0" anchor="ctr"/>
          <a:lstStyle/>
          <a:p>
            <a:pPr indent="0" marL="0">
              <a:buNone/>
            </a:pPr>
            <a:r>
              <a:rPr lang="en-US" sz="1100" dirty="0">
                <a:solidFill>
                  <a:srgbClr val="8496B4"/>
                </a:solidFill>
                <a:latin typeface="Calibri" pitchFamily="34" charset="0"/>
                <a:ea typeface="Calibri" pitchFamily="34" charset="-122"/>
                <a:cs typeface="Calibri" pitchFamily="34" charset="-120"/>
              </a:rPr>
              <a:t>TOTAL</a:t>
            </a:r>
            <a:endParaRPr lang="en-US" sz="1100" dirty="0"/>
          </a:p>
        </p:txBody>
      </p:sp>
      <p:sp>
        <p:nvSpPr>
          <p:cNvPr id="18" name="Text 16"/>
          <p:cNvSpPr/>
          <p:nvPr/>
        </p:nvSpPr>
        <p:spPr>
          <a:xfrm>
            <a:off x="9253728" y="1682496"/>
            <a:ext cx="2240280" cy="512064"/>
          </a:xfrm>
          <a:prstGeom prst="rect">
            <a:avLst/>
          </a:prstGeom>
          <a:noFill/>
          <a:ln/>
        </p:spPr>
        <p:txBody>
          <a:bodyPr wrap="square" lIns="0" tIns="0" rIns="0" bIns="0" rtlCol="0" anchor="ctr"/>
          <a:lstStyle/>
          <a:p>
            <a:pPr indent="0" marL="0">
              <a:buNone/>
            </a:pPr>
            <a:r>
              <a:rPr lang="en-US" sz="3000" b="1" dirty="0">
                <a:solidFill>
                  <a:srgbClr val="5FCB8E"/>
                </a:solidFill>
                <a:latin typeface="Cambria" pitchFamily="34" charset="0"/>
                <a:ea typeface="Cambria" pitchFamily="34" charset="-122"/>
                <a:cs typeface="Cambria" pitchFamily="34" charset="-120"/>
              </a:rPr>
              <a:t>61.8</a:t>
            </a:r>
            <a:pPr indent="0" marL="0">
              <a:buNone/>
            </a:pPr>
            <a:r>
              <a:rPr lang="en-US" sz="1300" dirty="0">
                <a:solidFill>
                  <a:srgbClr val="8496B4"/>
                </a:solidFill>
                <a:latin typeface="Cambria" pitchFamily="34" charset="0"/>
                <a:ea typeface="Cambria" pitchFamily="34" charset="-122"/>
                <a:cs typeface="Cambria" pitchFamily="34" charset="-120"/>
              </a:rPr>
              <a:t>  / 100</a:t>
            </a:r>
            <a:endParaRPr lang="en-US" sz="3000" dirty="0"/>
          </a:p>
        </p:txBody>
      </p:sp>
      <p:sp>
        <p:nvSpPr>
          <p:cNvPr id="19" name="Text 17"/>
          <p:cNvSpPr/>
          <p:nvPr/>
        </p:nvSpPr>
        <p:spPr>
          <a:xfrm>
            <a:off x="9253728" y="2231136"/>
            <a:ext cx="2240280" cy="237744"/>
          </a:xfrm>
          <a:prstGeom prst="rect">
            <a:avLst/>
          </a:prstGeom>
          <a:noFill/>
          <a:ln/>
        </p:spPr>
        <p:txBody>
          <a:bodyPr wrap="square" lIns="0" tIns="0" rIns="0" bIns="0" rtlCol="0" anchor="ctr"/>
          <a:lstStyle/>
          <a:p>
            <a:pPr indent="0" marL="0">
              <a:buNone/>
            </a:pPr>
            <a:r>
              <a:rPr lang="en-US" sz="1000" dirty="0">
                <a:solidFill>
                  <a:srgbClr val="5FCB8E"/>
                </a:solidFill>
                <a:latin typeface="Calibri" pitchFamily="34" charset="0"/>
                <a:ea typeface="Calibri" pitchFamily="34" charset="-122"/>
                <a:cs typeface="Calibri" pitchFamily="34" charset="-120"/>
              </a:rPr>
              <a:t>2nd place · started at 37.2</a:t>
            </a:r>
            <a:endParaRPr lang="en-US" sz="1000" dirty="0"/>
          </a:p>
        </p:txBody>
      </p:sp>
      <p:sp>
        <p:nvSpPr>
          <p:cNvPr id="20" name="Shape 18"/>
          <p:cNvSpPr/>
          <p:nvPr/>
        </p:nvSpPr>
        <p:spPr>
          <a:xfrm>
            <a:off x="502920" y="2798064"/>
            <a:ext cx="5577840" cy="2670048"/>
          </a:xfrm>
          <a:prstGeom prst="roundRect">
            <a:avLst>
              <a:gd name="adj" fmla="val 2055"/>
            </a:avLst>
          </a:prstGeom>
          <a:solidFill>
            <a:srgbClr val="1B2436"/>
          </a:solidFill>
          <a:ln w="12700">
            <a:solidFill>
              <a:srgbClr val="1B2436"/>
            </a:solidFill>
            <a:prstDash val="solid"/>
          </a:ln>
        </p:spPr>
      </p:sp>
      <p:sp>
        <p:nvSpPr>
          <p:cNvPr id="21" name="Text 19"/>
          <p:cNvSpPr/>
          <p:nvPr/>
        </p:nvSpPr>
        <p:spPr>
          <a:xfrm>
            <a:off x="685800" y="2926080"/>
            <a:ext cx="521208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What actually moved the score</a:t>
            </a:r>
            <a:endParaRPr lang="en-US" sz="1300" dirty="0"/>
          </a:p>
        </p:txBody>
      </p:sp>
      <p:sp>
        <p:nvSpPr>
          <p:cNvPr id="22" name="Text 20"/>
          <p:cNvSpPr/>
          <p:nvPr/>
        </p:nvSpPr>
        <p:spPr>
          <a:xfrm>
            <a:off x="685800" y="3310128"/>
            <a:ext cx="3794760" cy="292608"/>
          </a:xfrm>
          <a:prstGeom prst="rect">
            <a:avLst/>
          </a:prstGeom>
          <a:noFill/>
          <a:ln/>
        </p:spPr>
        <p:txBody>
          <a:bodyPr wrap="square" lIns="0" tIns="0" rIns="0" bIns="0" rtlCol="0" anchor="ctr"/>
          <a:lstStyle/>
          <a:p>
            <a:pPr indent="0" marL="0">
              <a:buNone/>
            </a:pPr>
            <a:r>
              <a:rPr lang="en-US" sz="1050" dirty="0">
                <a:solidFill>
                  <a:srgbClr val="CADCFC"/>
                </a:solidFill>
                <a:latin typeface="Calibri" pitchFamily="34" charset="0"/>
                <a:ea typeface="Calibri" pitchFamily="34" charset="-122"/>
                <a:cs typeface="Calibri" pitchFamily="34" charset="-120"/>
              </a:rPr>
              <a:t>Silencing the normal Level-2 video we never spotted</a:t>
            </a:r>
            <a:endParaRPr lang="en-US" sz="1050" dirty="0"/>
          </a:p>
        </p:txBody>
      </p:sp>
      <p:sp>
        <p:nvSpPr>
          <p:cNvPr id="23" name="Text 21"/>
          <p:cNvSpPr/>
          <p:nvPr/>
        </p:nvSpPr>
        <p:spPr>
          <a:xfrm>
            <a:off x="4526280" y="3310128"/>
            <a:ext cx="1389888" cy="292608"/>
          </a:xfrm>
          <a:prstGeom prst="rect">
            <a:avLst/>
          </a:prstGeom>
          <a:noFill/>
          <a:ln/>
        </p:spPr>
        <p:txBody>
          <a:bodyPr wrap="square" lIns="0" tIns="0" rIns="0" bIns="0" rtlCol="0" anchor="ctr"/>
          <a:lstStyle/>
          <a:p>
            <a:pPr algn="r" indent="0" marL="0">
              <a:buNone/>
            </a:pPr>
            <a:r>
              <a:rPr lang="en-US" sz="1100" b="1" dirty="0">
                <a:solidFill>
                  <a:srgbClr val="5FCB8E"/>
                </a:solidFill>
                <a:latin typeface="Calibri" pitchFamily="34" charset="0"/>
                <a:ea typeface="Calibri" pitchFamily="34" charset="-122"/>
                <a:cs typeface="Calibri" pitchFamily="34" charset="-120"/>
              </a:rPr>
              <a:t>D2 16.1 → 27.6</a:t>
            </a:r>
            <a:endParaRPr lang="en-US" sz="1100" dirty="0"/>
          </a:p>
        </p:txBody>
      </p:sp>
      <p:sp>
        <p:nvSpPr>
          <p:cNvPr id="24" name="Text 22"/>
          <p:cNvSpPr/>
          <p:nvPr/>
        </p:nvSpPr>
        <p:spPr>
          <a:xfrm>
            <a:off x="685800" y="3666744"/>
            <a:ext cx="3794760" cy="292608"/>
          </a:xfrm>
          <a:prstGeom prst="rect">
            <a:avLst/>
          </a:prstGeom>
          <a:noFill/>
          <a:ln/>
        </p:spPr>
        <p:txBody>
          <a:bodyPr wrap="square" lIns="0" tIns="0" rIns="0" bIns="0" rtlCol="0" anchor="ctr"/>
          <a:lstStyle/>
          <a:p>
            <a:pPr indent="0" marL="0">
              <a:buNone/>
            </a:pPr>
            <a:r>
              <a:rPr lang="en-US" sz="1050" dirty="0">
                <a:solidFill>
                  <a:srgbClr val="CADCFC"/>
                </a:solidFill>
                <a:latin typeface="Calibri" pitchFamily="34" charset="0"/>
                <a:ea typeface="Calibri" pitchFamily="34" charset="-122"/>
                <a:cs typeface="Calibri" pitchFamily="34" charset="-120"/>
              </a:rPr>
              <a:t>Candidates on the 5 s composition lattice</a:t>
            </a:r>
            <a:endParaRPr lang="en-US" sz="1050" dirty="0"/>
          </a:p>
        </p:txBody>
      </p:sp>
      <p:sp>
        <p:nvSpPr>
          <p:cNvPr id="25" name="Text 23"/>
          <p:cNvSpPr/>
          <p:nvPr/>
        </p:nvSpPr>
        <p:spPr>
          <a:xfrm>
            <a:off x="4526280" y="3666744"/>
            <a:ext cx="1389888" cy="292608"/>
          </a:xfrm>
          <a:prstGeom prst="rect">
            <a:avLst/>
          </a:prstGeom>
          <a:noFill/>
          <a:ln/>
        </p:spPr>
        <p:txBody>
          <a:bodyPr wrap="square" lIns="0" tIns="0" rIns="0" bIns="0" rtlCol="0" anchor="ctr"/>
          <a:lstStyle/>
          <a:p>
            <a:pPr algn="r" indent="0" marL="0">
              <a:buNone/>
            </a:pPr>
            <a:r>
              <a:rPr lang="en-US" sz="1100" b="1" dirty="0">
                <a:solidFill>
                  <a:srgbClr val="5FCB8E"/>
                </a:solidFill>
                <a:latin typeface="Calibri" pitchFamily="34" charset="0"/>
                <a:ea typeface="Calibri" pitchFamily="34" charset="-122"/>
                <a:cs typeface="Calibri" pitchFamily="34" charset="-120"/>
              </a:rPr>
              <a:t>D3 16.3 → 19.7</a:t>
            </a:r>
            <a:endParaRPr lang="en-US" sz="1100" dirty="0"/>
          </a:p>
        </p:txBody>
      </p:sp>
      <p:sp>
        <p:nvSpPr>
          <p:cNvPr id="26" name="Text 24"/>
          <p:cNvSpPr/>
          <p:nvPr/>
        </p:nvSpPr>
        <p:spPr>
          <a:xfrm>
            <a:off x="685800" y="4023360"/>
            <a:ext cx="3794760" cy="292608"/>
          </a:xfrm>
          <a:prstGeom prst="rect">
            <a:avLst/>
          </a:prstGeom>
          <a:noFill/>
          <a:ln/>
        </p:spPr>
        <p:txBody>
          <a:bodyPr wrap="square" lIns="0" tIns="0" rIns="0" bIns="0" rtlCol="0" anchor="ctr"/>
          <a:lstStyle/>
          <a:p>
            <a:pPr indent="0" marL="0">
              <a:buNone/>
            </a:pPr>
            <a:r>
              <a:rPr lang="en-US" sz="1050" dirty="0">
                <a:solidFill>
                  <a:srgbClr val="CADCFC"/>
                </a:solidFill>
                <a:latin typeface="Calibri" pitchFamily="34" charset="0"/>
                <a:ea typeface="Calibri" pitchFamily="34" charset="-122"/>
                <a:cs typeface="Calibri" pitchFamily="34" charset="-120"/>
              </a:rPr>
              <a:t>Level 1 with no confidence gate at all</a:t>
            </a:r>
            <a:endParaRPr lang="en-US" sz="1050" dirty="0"/>
          </a:p>
        </p:txBody>
      </p:sp>
      <p:sp>
        <p:nvSpPr>
          <p:cNvPr id="27" name="Text 25"/>
          <p:cNvSpPr/>
          <p:nvPr/>
        </p:nvSpPr>
        <p:spPr>
          <a:xfrm>
            <a:off x="4526280" y="4023360"/>
            <a:ext cx="1389888" cy="292608"/>
          </a:xfrm>
          <a:prstGeom prst="rect">
            <a:avLst/>
          </a:prstGeom>
          <a:noFill/>
          <a:ln/>
        </p:spPr>
        <p:txBody>
          <a:bodyPr wrap="square" lIns="0" tIns="0" rIns="0" bIns="0" rtlCol="0" anchor="ctr"/>
          <a:lstStyle/>
          <a:p>
            <a:pPr algn="r" indent="0" marL="0">
              <a:buNone/>
            </a:pPr>
            <a:r>
              <a:rPr lang="en-US" sz="1100" b="1" dirty="0">
                <a:solidFill>
                  <a:srgbClr val="5FCB8E"/>
                </a:solidFill>
                <a:latin typeface="Calibri" pitchFamily="34" charset="0"/>
                <a:ea typeface="Calibri" pitchFamily="34" charset="-122"/>
                <a:cs typeface="Calibri" pitchFamily="34" charset="-120"/>
              </a:rPr>
              <a:t>D1 11.8 → 14.5</a:t>
            </a:r>
            <a:endParaRPr lang="en-US" sz="1100" dirty="0"/>
          </a:p>
        </p:txBody>
      </p:sp>
      <p:sp>
        <p:nvSpPr>
          <p:cNvPr id="28" name="Text 26"/>
          <p:cNvSpPr/>
          <p:nvPr/>
        </p:nvSpPr>
        <p:spPr>
          <a:xfrm>
            <a:off x="685800" y="4379976"/>
            <a:ext cx="3794760" cy="292608"/>
          </a:xfrm>
          <a:prstGeom prst="rect">
            <a:avLst/>
          </a:prstGeom>
          <a:noFill/>
          <a:ln/>
        </p:spPr>
        <p:txBody>
          <a:bodyPr wrap="square" lIns="0" tIns="0" rIns="0" bIns="0" rtlCol="0" anchor="ctr"/>
          <a:lstStyle/>
          <a:p>
            <a:pPr indent="0" marL="0">
              <a:buNone/>
            </a:pPr>
            <a:r>
              <a:rPr lang="en-US" sz="1050" dirty="0">
                <a:solidFill>
                  <a:srgbClr val="CADCFC"/>
                </a:solidFill>
                <a:latin typeface="Calibri" pitchFamily="34" charset="0"/>
                <a:ea typeface="Calibri" pitchFamily="34" charset="-122"/>
                <a:cs typeface="Calibri" pitchFamily="34" charset="-120"/>
              </a:rPr>
              <a:t>Collection-fingerprint class prior</a:t>
            </a:r>
            <a:endParaRPr lang="en-US" sz="1050" dirty="0"/>
          </a:p>
        </p:txBody>
      </p:sp>
      <p:sp>
        <p:nvSpPr>
          <p:cNvPr id="29" name="Text 27"/>
          <p:cNvSpPr/>
          <p:nvPr/>
        </p:nvSpPr>
        <p:spPr>
          <a:xfrm>
            <a:off x="4526280" y="4379976"/>
            <a:ext cx="1389888" cy="292608"/>
          </a:xfrm>
          <a:prstGeom prst="rect">
            <a:avLst/>
          </a:prstGeom>
          <a:noFill/>
          <a:ln/>
        </p:spPr>
        <p:txBody>
          <a:bodyPr wrap="square" lIns="0" tIns="0" rIns="0" bIns="0" rtlCol="0" anchor="ctr"/>
          <a:lstStyle/>
          <a:p>
            <a:pPr algn="r" indent="0" marL="0">
              <a:buNone/>
            </a:pPr>
            <a:r>
              <a:rPr lang="en-US" sz="1100" b="1" dirty="0">
                <a:solidFill>
                  <a:srgbClr val="5FCB8E"/>
                </a:solidFill>
                <a:latin typeface="Calibri" pitchFamily="34" charset="0"/>
                <a:ea typeface="Calibri" pitchFamily="34" charset="-122"/>
                <a:cs typeface="Calibri" pitchFamily="34" charset="-120"/>
              </a:rPr>
              <a:t>37.2 → 46.2</a:t>
            </a:r>
            <a:endParaRPr lang="en-US" sz="1100" dirty="0"/>
          </a:p>
        </p:txBody>
      </p:sp>
      <p:sp>
        <p:nvSpPr>
          <p:cNvPr id="30" name="Text 28"/>
          <p:cNvSpPr/>
          <p:nvPr/>
        </p:nvSpPr>
        <p:spPr>
          <a:xfrm>
            <a:off x="685800" y="4736592"/>
            <a:ext cx="3794760" cy="292608"/>
          </a:xfrm>
          <a:prstGeom prst="rect">
            <a:avLst/>
          </a:prstGeom>
          <a:noFill/>
          <a:ln/>
        </p:spPr>
        <p:txBody>
          <a:bodyPr wrap="square" lIns="0" tIns="0" rIns="0" bIns="0" rtlCol="0" anchor="ctr"/>
          <a:lstStyle/>
          <a:p>
            <a:pPr indent="0" marL="0">
              <a:buNone/>
            </a:pPr>
            <a:r>
              <a:rPr lang="en-US" sz="1050" dirty="0">
                <a:solidFill>
                  <a:srgbClr val="CADCFC"/>
                </a:solidFill>
                <a:latin typeface="Calibri" pitchFamily="34" charset="0"/>
                <a:ea typeface="Calibri" pitchFamily="34" charset="-122"/>
                <a:cs typeface="Calibri" pitchFamily="34" charset="-120"/>
              </a:rPr>
              <a:t>Raising the Level-1 threshold to 0.7</a:t>
            </a:r>
            <a:endParaRPr lang="en-US" sz="1050" dirty="0"/>
          </a:p>
        </p:txBody>
      </p:sp>
      <p:sp>
        <p:nvSpPr>
          <p:cNvPr id="31" name="Text 29"/>
          <p:cNvSpPr/>
          <p:nvPr/>
        </p:nvSpPr>
        <p:spPr>
          <a:xfrm>
            <a:off x="4526280" y="4736592"/>
            <a:ext cx="1389888" cy="292608"/>
          </a:xfrm>
          <a:prstGeom prst="rect">
            <a:avLst/>
          </a:prstGeom>
          <a:noFill/>
          <a:ln/>
        </p:spPr>
        <p:txBody>
          <a:bodyPr wrap="square" lIns="0" tIns="0" rIns="0" bIns="0" rtlCol="0" anchor="ctr"/>
          <a:lstStyle/>
          <a:p>
            <a:pPr algn="r" indent="0" marL="0">
              <a:buNone/>
            </a:pPr>
            <a:r>
              <a:rPr lang="en-US" sz="1100" b="1" dirty="0">
                <a:solidFill>
                  <a:srgbClr val="E2685F"/>
                </a:solidFill>
                <a:latin typeface="Calibri" pitchFamily="34" charset="0"/>
                <a:ea typeface="Calibri" pitchFamily="34" charset="-122"/>
                <a:cs typeface="Calibri" pitchFamily="34" charset="-120"/>
              </a:rPr>
              <a:t>−2.0</a:t>
            </a:r>
            <a:endParaRPr lang="en-US" sz="1100" dirty="0"/>
          </a:p>
        </p:txBody>
      </p:sp>
      <p:sp>
        <p:nvSpPr>
          <p:cNvPr id="32" name="Text 30"/>
          <p:cNvSpPr/>
          <p:nvPr/>
        </p:nvSpPr>
        <p:spPr>
          <a:xfrm>
            <a:off x="685800" y="5093208"/>
            <a:ext cx="3794760" cy="292608"/>
          </a:xfrm>
          <a:prstGeom prst="rect">
            <a:avLst/>
          </a:prstGeom>
          <a:noFill/>
          <a:ln/>
        </p:spPr>
        <p:txBody>
          <a:bodyPr wrap="square" lIns="0" tIns="0" rIns="0" bIns="0" rtlCol="0" anchor="ctr"/>
          <a:lstStyle/>
          <a:p>
            <a:pPr indent="0" marL="0">
              <a:buNone/>
            </a:pPr>
            <a:r>
              <a:rPr lang="en-US" sz="1050" dirty="0">
                <a:solidFill>
                  <a:srgbClr val="CADCFC"/>
                </a:solidFill>
                <a:latin typeface="Calibri" pitchFamily="34" charset="0"/>
                <a:ea typeface="Calibri" pitchFamily="34" charset="-122"/>
                <a:cs typeface="Calibri" pitchFamily="34" charset="-120"/>
              </a:rPr>
              <a:t>12 replacement rankers on Level 3</a:t>
            </a:r>
            <a:endParaRPr lang="en-US" sz="1050" dirty="0"/>
          </a:p>
        </p:txBody>
      </p:sp>
      <p:sp>
        <p:nvSpPr>
          <p:cNvPr id="33" name="Text 31"/>
          <p:cNvSpPr/>
          <p:nvPr/>
        </p:nvSpPr>
        <p:spPr>
          <a:xfrm>
            <a:off x="4526280" y="5093208"/>
            <a:ext cx="1389888" cy="292608"/>
          </a:xfrm>
          <a:prstGeom prst="rect">
            <a:avLst/>
          </a:prstGeom>
          <a:noFill/>
          <a:ln/>
        </p:spPr>
        <p:txBody>
          <a:bodyPr wrap="square" lIns="0" tIns="0" rIns="0" bIns="0" rtlCol="0" anchor="ctr"/>
          <a:lstStyle/>
          <a:p>
            <a:pPr algn="r" indent="0" marL="0">
              <a:buNone/>
            </a:pPr>
            <a:r>
              <a:rPr lang="en-US" sz="1100" b="1" dirty="0">
                <a:solidFill>
                  <a:srgbClr val="E2685F"/>
                </a:solidFill>
                <a:latin typeface="Calibri" pitchFamily="34" charset="0"/>
                <a:ea typeface="Calibri" pitchFamily="34" charset="-122"/>
                <a:cs typeface="Calibri" pitchFamily="34" charset="-120"/>
              </a:rPr>
              <a:t>0 of 12</a:t>
            </a:r>
            <a:endParaRPr lang="en-US" sz="1100" dirty="0"/>
          </a:p>
        </p:txBody>
      </p:sp>
      <p:sp>
        <p:nvSpPr>
          <p:cNvPr id="34" name="Shape 32"/>
          <p:cNvSpPr/>
          <p:nvPr/>
        </p:nvSpPr>
        <p:spPr>
          <a:xfrm>
            <a:off x="6355080" y="2798064"/>
            <a:ext cx="5303520" cy="2670048"/>
          </a:xfrm>
          <a:prstGeom prst="roundRect">
            <a:avLst>
              <a:gd name="adj" fmla="val 2055"/>
            </a:avLst>
          </a:prstGeom>
          <a:solidFill>
            <a:srgbClr val="1B2436"/>
          </a:solidFill>
          <a:ln w="12700">
            <a:solidFill>
              <a:srgbClr val="1B2436"/>
            </a:solidFill>
            <a:prstDash val="solid"/>
          </a:ln>
        </p:spPr>
      </p:sp>
      <p:sp>
        <p:nvSpPr>
          <p:cNvPr id="35" name="Text 33"/>
          <p:cNvSpPr/>
          <p:nvPr/>
        </p:nvSpPr>
        <p:spPr>
          <a:xfrm>
            <a:off x="6537960" y="2926080"/>
            <a:ext cx="493776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Three things we learned</a:t>
            </a:r>
            <a:endParaRPr lang="en-US" sz="1300" dirty="0"/>
          </a:p>
        </p:txBody>
      </p:sp>
      <p:sp>
        <p:nvSpPr>
          <p:cNvPr id="36" name="Text 34"/>
          <p:cNvSpPr/>
          <p:nvPr/>
        </p:nvSpPr>
        <p:spPr>
          <a:xfrm>
            <a:off x="6537960" y="3291840"/>
            <a:ext cx="4937760" cy="219456"/>
          </a:xfrm>
          <a:prstGeom prst="rect">
            <a:avLst/>
          </a:prstGeom>
          <a:noFill/>
          <a:ln/>
        </p:spPr>
        <p:txBody>
          <a:bodyPr wrap="square" lIns="0" tIns="0" rIns="0" bIns="0" rtlCol="0" anchor="ctr"/>
          <a:lstStyle/>
          <a:p>
            <a:pPr indent="0" marL="0">
              <a:buNone/>
            </a:pPr>
            <a:r>
              <a:rPr lang="en-US" sz="1100" b="1" dirty="0">
                <a:solidFill>
                  <a:srgbClr val="F2A63B"/>
                </a:solidFill>
                <a:latin typeface="Calibri" pitchFamily="34" charset="0"/>
                <a:ea typeface="Calibri" pitchFamily="34" charset="-122"/>
                <a:cs typeface="Calibri" pitchFamily="34" charset="-120"/>
              </a:rPr>
              <a:t>We were scoring a formula we had invented.</a:t>
            </a:r>
            <a:endParaRPr lang="en-US" sz="1100" dirty="0"/>
          </a:p>
        </p:txBody>
      </p:sp>
      <p:sp>
        <p:nvSpPr>
          <p:cNvPr id="37" name="Text 35"/>
          <p:cNvSpPr/>
          <p:nvPr/>
        </p:nvSpPr>
        <p:spPr>
          <a:xfrm>
            <a:off x="6537960" y="3511296"/>
            <a:ext cx="4937760" cy="493776"/>
          </a:xfrm>
          <a:prstGeom prst="rect">
            <a:avLst/>
          </a:prstGeom>
          <a:noFill/>
          <a:ln/>
        </p:spPr>
        <p:txBody>
          <a:bodyPr wrap="square" lIns="0" tIns="0" rIns="0" bIns="0" rtlCol="0" anchor="ctr"/>
          <a:lstStyle/>
          <a:p>
            <a:pPr indent="0" marL="0">
              <a:lnSpc>
                <a:spcPct val="108000"/>
              </a:lnSpc>
              <a:buNone/>
            </a:pPr>
            <a:r>
              <a:rPr lang="en-US" sz="850" dirty="0">
                <a:solidFill>
                  <a:srgbClr val="CADCFC"/>
                </a:solidFill>
                <a:latin typeface="Calibri" pitchFamily="34" charset="0"/>
                <a:ea typeface="Calibri" pitchFamily="34" charset="-122"/>
                <a:cs typeface="Calibri" pitchFamily="34" charset="-120"/>
              </a:rPr>
              <a:t>A scorer fitted to the practice pack said Level 1 was F1-based, so we kept tightening a confidence gate. The leaderboard prints “found x/17”, which fixes the denominator and restores the documented rule: half the marks are binary accuracy and 17 of 20 clips carry an event, so there is no precision penalty at all. Deleting the gate was worth +2.7.</a:t>
            </a:r>
            <a:endParaRPr lang="en-US" sz="850" dirty="0"/>
          </a:p>
        </p:txBody>
      </p:sp>
      <p:sp>
        <p:nvSpPr>
          <p:cNvPr id="38" name="Text 36"/>
          <p:cNvSpPr/>
          <p:nvPr/>
        </p:nvSpPr>
        <p:spPr>
          <a:xfrm>
            <a:off x="6537960" y="4032504"/>
            <a:ext cx="4937760" cy="219456"/>
          </a:xfrm>
          <a:prstGeom prst="rect">
            <a:avLst/>
          </a:prstGeom>
          <a:noFill/>
          <a:ln/>
        </p:spPr>
        <p:txBody>
          <a:bodyPr wrap="square" lIns="0" tIns="0" rIns="0" bIns="0" rtlCol="0" anchor="ctr"/>
          <a:lstStyle/>
          <a:p>
            <a:pPr indent="0" marL="0">
              <a:buNone/>
            </a:pPr>
            <a:r>
              <a:rPr lang="en-US" sz="1100" b="1" dirty="0">
                <a:solidFill>
                  <a:srgbClr val="F2A63B"/>
                </a:solidFill>
                <a:latin typeface="Calibri" pitchFamily="34" charset="0"/>
                <a:ea typeface="Calibri" pitchFamily="34" charset="-122"/>
                <a:cs typeface="Calibri" pitchFamily="34" charset="-120"/>
              </a:rPr>
              <a:t>A normal video is worth a whole video.</a:t>
            </a:r>
            <a:endParaRPr lang="en-US" sz="1100" dirty="0"/>
          </a:p>
        </p:txBody>
      </p:sp>
      <p:sp>
        <p:nvSpPr>
          <p:cNvPr id="39" name="Text 37"/>
          <p:cNvSpPr/>
          <p:nvPr/>
        </p:nvSpPr>
        <p:spPr>
          <a:xfrm>
            <a:off x="6537960" y="4251960"/>
            <a:ext cx="4937760" cy="493776"/>
          </a:xfrm>
          <a:prstGeom prst="rect">
            <a:avLst/>
          </a:prstGeom>
          <a:noFill/>
          <a:ln/>
        </p:spPr>
        <p:txBody>
          <a:bodyPr wrap="square" lIns="0" tIns="0" rIns="0" bIns="0" rtlCol="0" anchor="ctr"/>
          <a:lstStyle/>
          <a:p>
            <a:pPr indent="0" marL="0">
              <a:lnSpc>
                <a:spcPct val="108000"/>
              </a:lnSpc>
              <a:buNone/>
            </a:pPr>
            <a:r>
              <a:rPr lang="en-US" sz="850" dirty="0">
                <a:solidFill>
                  <a:srgbClr val="CADCFC"/>
                </a:solidFill>
                <a:latin typeface="Calibri" pitchFamily="34" charset="0"/>
                <a:ea typeface="Calibri" pitchFamily="34" charset="-122"/>
                <a:cs typeface="Calibri" pitchFamily="34" charset="-120"/>
              </a:rPr>
              <a:t>A rival submitted nothing on Level 2 and scored exactly 17.5 of 35 — one half, so two of its four videos are normal. We had carried events on both candidates in every upload, taking a guaranteed zero on one. Silencing the right one was worth +11.5, our single largest gain.</a:t>
            </a:r>
            <a:endParaRPr lang="en-US" sz="850" dirty="0"/>
          </a:p>
        </p:txBody>
      </p:sp>
      <p:sp>
        <p:nvSpPr>
          <p:cNvPr id="40" name="Text 38"/>
          <p:cNvSpPr/>
          <p:nvPr/>
        </p:nvSpPr>
        <p:spPr>
          <a:xfrm>
            <a:off x="6537960" y="4773168"/>
            <a:ext cx="4937760" cy="219456"/>
          </a:xfrm>
          <a:prstGeom prst="rect">
            <a:avLst/>
          </a:prstGeom>
          <a:noFill/>
          <a:ln/>
        </p:spPr>
        <p:txBody>
          <a:bodyPr wrap="square" lIns="0" tIns="0" rIns="0" bIns="0" rtlCol="0" anchor="ctr"/>
          <a:lstStyle/>
          <a:p>
            <a:pPr indent="0" marL="0">
              <a:buNone/>
            </a:pPr>
            <a:r>
              <a:rPr lang="en-US" sz="1100" b="1" dirty="0">
                <a:solidFill>
                  <a:srgbClr val="F2A63B"/>
                </a:solidFill>
                <a:latin typeface="Calibri" pitchFamily="34" charset="0"/>
                <a:ea typeface="Calibri" pitchFamily="34" charset="-122"/>
                <a:cs typeface="Calibri" pitchFamily="34" charset="-120"/>
              </a:rPr>
              <a:t>Proposals are solved; ranking is not.</a:t>
            </a:r>
            <a:endParaRPr lang="en-US" sz="1100" dirty="0"/>
          </a:p>
        </p:txBody>
      </p:sp>
      <p:sp>
        <p:nvSpPr>
          <p:cNvPr id="41" name="Text 39"/>
          <p:cNvSpPr/>
          <p:nvPr/>
        </p:nvSpPr>
        <p:spPr>
          <a:xfrm>
            <a:off x="6537960" y="4992624"/>
            <a:ext cx="4937760" cy="493776"/>
          </a:xfrm>
          <a:prstGeom prst="rect">
            <a:avLst/>
          </a:prstGeom>
          <a:noFill/>
          <a:ln/>
        </p:spPr>
        <p:txBody>
          <a:bodyPr wrap="square" lIns="0" tIns="0" rIns="0" bIns="0" rtlCol="0" anchor="ctr"/>
          <a:lstStyle/>
          <a:p>
            <a:pPr indent="0" marL="0">
              <a:lnSpc>
                <a:spcPct val="108000"/>
              </a:lnSpc>
              <a:buNone/>
            </a:pPr>
            <a:r>
              <a:rPr lang="en-US" sz="850" dirty="0">
                <a:solidFill>
                  <a:srgbClr val="CADCFC"/>
                </a:solidFill>
                <a:latin typeface="Calibri" pitchFamily="34" charset="0"/>
                <a:ea typeface="Calibri" pitchFamily="34" charset="-122"/>
                <a:cs typeface="Calibri" pitchFamily="34" charset="-120"/>
              </a:rPr>
              <a:t>A 2.5 s lattice covers 100% of public truths at IoU 0.5 and our recall now leads the field. But the head’s anomaly curve is saturated at exactly 1.0000, zero variance, on three private videos, and twelve replacement scores all reach 0% recall@128 on Level 3.</a:t>
            </a:r>
            <a:endParaRPr lang="en-US" sz="850" dirty="0"/>
          </a:p>
        </p:txBody>
      </p:sp>
      <p:sp>
        <p:nvSpPr>
          <p:cNvPr id="42" name="Text 40"/>
          <p:cNvSpPr/>
          <p:nvPr/>
        </p:nvSpPr>
        <p:spPr>
          <a:xfrm>
            <a:off x="502920" y="5614416"/>
            <a:ext cx="11155680" cy="411480"/>
          </a:xfrm>
          <a:prstGeom prst="rect">
            <a:avLst/>
          </a:prstGeom>
          <a:noFill/>
          <a:ln/>
        </p:spPr>
        <p:txBody>
          <a:bodyPr wrap="square" lIns="0" tIns="0" rIns="0" bIns="0" rtlCol="0" anchor="ctr"/>
          <a:lstStyle/>
          <a:p>
            <a:pPr indent="0" marL="0">
              <a:buNone/>
            </a:pPr>
            <a:r>
              <a:rPr lang="en-US" sz="1100" i="1" dirty="0">
                <a:solidFill>
                  <a:srgbClr val="8496B4"/>
                </a:solidFill>
                <a:latin typeface="Calibri" pitchFamily="34" charset="0"/>
                <a:ea typeface="Calibri" pitchFamily="34" charset="-122"/>
                <a:cs typeface="Calibri" pitchFamily="34" charset="-120"/>
              </a:rPr>
              <a:t>Where the marks still are: we hold the highest recall in the field at both temporal difficulties — 5 of 6 at Level 3, 5 of 12 at Level 2 — and convert the least of it, because we cannot say which of our candidates are the right ones. That one gap is worth about thirteen marks.</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Near-Real-Time Video Anomaly Detection</dc:title>
  <dc:subject>PptxGenJS Presentation</dc:subject>
  <dc:creator>AHC Visual Intelligence Hackathon</dc:creator>
  <cp:lastModifiedBy>AHC Visual Intelligence Hackathon</cp:lastModifiedBy>
  <cp:revision>1</cp:revision>
  <dcterms:created xsi:type="dcterms:W3CDTF">2026-09-05T12:48:37Z</dcterms:created>
  <dcterms:modified xsi:type="dcterms:W3CDTF">2026-09-05T12:48:37Z</dcterms:modified>
</cp:coreProperties>
</file>