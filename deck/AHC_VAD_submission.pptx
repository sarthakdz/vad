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Cascade: frozen SigLIP encoder feeding a 2.18M-parameter bidirectional GRU that emits per-second anomaly and class scores. Segments come from hysteresis plus aggressive merging. No hosted model at runtime, as the rules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Standing private-set score 46.2/100. The three fixes are candidate widths matched to the IoU 0.5 gate, round-robin stratification across widths so the budget is not spent on the narrowest scale, and a class spray restricted to what the source collection can contain. Projections come from the public set, tuned on four videos per level, so they are directions rather than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51F"/>
        </a:solidFill>
      </p:bgPr>
    </p:bg>
    <p:spTree>
      <p:nvGrpSpPr>
        <p:cNvPr id="1" name=""/>
        <p:cNvGrpSpPr/>
        <p:nvPr/>
      </p:nvGrpSpPr>
      <p:grpSpPr>
        <a:xfrm>
          <a:off x="0" y="0"/>
          <a:ext cx="0" cy="0"/>
          <a:chOff x="0" y="0"/>
          <a:chExt cx="0" cy="0"/>
        </a:xfrm>
      </p:grpSpPr>
      <p:sp>
        <p:nvSpPr>
          <p:cNvPr id="2" name="Text 0"/>
          <p:cNvSpPr/>
          <p:nvPr/>
        </p:nvSpPr>
        <p:spPr>
          <a:xfrm>
            <a:off x="502920" y="310896"/>
            <a:ext cx="11155680"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Small VLM-free cascade for near-real-time anomaly detection</a:t>
            </a:r>
            <a:endParaRPr lang="en-US" sz="2700" dirty="0"/>
          </a:p>
        </p:txBody>
      </p:sp>
      <p:sp>
        <p:nvSpPr>
          <p:cNvPr id="3" name="Text 1"/>
          <p:cNvSpPr/>
          <p:nvPr/>
        </p:nvSpPr>
        <p:spPr>
          <a:xfrm>
            <a:off x="502920" y="795528"/>
            <a:ext cx="11155680" cy="292608"/>
          </a:xfrm>
          <a:prstGeom prst="rect">
            <a:avLst/>
          </a:prstGeom>
          <a:noFill/>
          <a:ln/>
        </p:spPr>
        <p:txBody>
          <a:bodyPr wrap="square" lIns="0" tIns="0" rIns="0" bIns="0" rtlCol="0" anchor="ctr"/>
          <a:lstStyle/>
          <a:p>
            <a:pPr indent="0" marL="0">
              <a:buNone/>
            </a:pPr>
            <a:r>
              <a:rPr lang="en-US" sz="1300" dirty="0">
                <a:solidFill>
                  <a:srgbClr val="8496B4"/>
                </a:solidFill>
                <a:latin typeface="Calibri" pitchFamily="34" charset="0"/>
                <a:ea typeface="Calibri" pitchFamily="34" charset="-122"/>
                <a:cs typeface="Calibri" pitchFamily="34" charset="-120"/>
              </a:rPr>
              <a:t>Frozen encoder + 2.2M-parameter temporal head. No model in the runtime path larger than SigLIP-base.</a:t>
            </a:r>
            <a:endParaRPr lang="en-US" sz="1300" dirty="0"/>
          </a:p>
        </p:txBody>
      </p:sp>
      <p:sp>
        <p:nvSpPr>
          <p:cNvPr id="4" name="Shape 2"/>
          <p:cNvSpPr/>
          <p:nvPr/>
        </p:nvSpPr>
        <p:spPr>
          <a:xfrm>
            <a:off x="502920" y="1298448"/>
            <a:ext cx="2121408" cy="1060704"/>
          </a:xfrm>
          <a:prstGeom prst="roundRect">
            <a:avLst>
              <a:gd name="adj" fmla="val 5172"/>
            </a:avLst>
          </a:prstGeom>
          <a:solidFill>
            <a:srgbClr val="1B2436"/>
          </a:solidFill>
          <a:ln w="12700">
            <a:solidFill>
              <a:srgbClr val="1B2436"/>
            </a:solidFill>
            <a:prstDash val="solid"/>
          </a:ln>
        </p:spPr>
      </p:sp>
      <p:sp>
        <p:nvSpPr>
          <p:cNvPr id="5" name="Text 3"/>
          <p:cNvSpPr/>
          <p:nvPr/>
        </p:nvSpPr>
        <p:spPr>
          <a:xfrm>
            <a:off x="630936" y="1472184"/>
            <a:ext cx="1865376"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Decode @ 2 fps</a:t>
            </a:r>
            <a:endParaRPr lang="en-US" sz="1300" dirty="0"/>
          </a:p>
        </p:txBody>
      </p:sp>
      <p:sp>
        <p:nvSpPr>
          <p:cNvPr id="6" name="Text 4"/>
          <p:cNvSpPr/>
          <p:nvPr/>
        </p:nvSpPr>
        <p:spPr>
          <a:xfrm>
            <a:off x="630936" y="1810512"/>
            <a:ext cx="1865376" cy="384048"/>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grab/skip, resize 224</a:t>
            </a:r>
            <a:endParaRPr lang="en-US" sz="1050" dirty="0"/>
          </a:p>
        </p:txBody>
      </p:sp>
      <p:sp>
        <p:nvSpPr>
          <p:cNvPr id="7" name="Text 5"/>
          <p:cNvSpPr/>
          <p:nvPr/>
        </p:nvSpPr>
        <p:spPr>
          <a:xfrm>
            <a:off x="2606040" y="1609344"/>
            <a:ext cx="182880" cy="365760"/>
          </a:xfrm>
          <a:prstGeom prst="rect">
            <a:avLst/>
          </a:prstGeom>
          <a:noFill/>
          <a:ln/>
        </p:spPr>
        <p:txBody>
          <a:bodyPr wrap="square" lIns="0" tIns="0" rIns="0" bIns="0" rtlCol="0" anchor="ctr"/>
          <a:lstStyle/>
          <a:p>
            <a:pPr algn="ctr" indent="0" marL="0">
              <a:buNone/>
            </a:pPr>
            <a:r>
              <a:rPr lang="en-US" sz="2000" dirty="0">
                <a:solidFill>
                  <a:srgbClr val="F2A63B"/>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761488" y="1298448"/>
            <a:ext cx="2121408" cy="1060704"/>
          </a:xfrm>
          <a:prstGeom prst="roundRect">
            <a:avLst>
              <a:gd name="adj" fmla="val 5172"/>
            </a:avLst>
          </a:prstGeom>
          <a:solidFill>
            <a:srgbClr val="1B2436"/>
          </a:solidFill>
          <a:ln w="12700">
            <a:solidFill>
              <a:srgbClr val="1B2436"/>
            </a:solidFill>
            <a:prstDash val="solid"/>
          </a:ln>
        </p:spPr>
      </p:sp>
      <p:sp>
        <p:nvSpPr>
          <p:cNvPr id="9" name="Text 7"/>
          <p:cNvSpPr/>
          <p:nvPr/>
        </p:nvSpPr>
        <p:spPr>
          <a:xfrm>
            <a:off x="2889504" y="1472184"/>
            <a:ext cx="1865376"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SigLIP-base</a:t>
            </a:r>
            <a:endParaRPr lang="en-US" sz="1300" dirty="0"/>
          </a:p>
        </p:txBody>
      </p:sp>
      <p:sp>
        <p:nvSpPr>
          <p:cNvPr id="10" name="Text 8"/>
          <p:cNvSpPr/>
          <p:nvPr/>
        </p:nvSpPr>
        <p:spPr>
          <a:xfrm>
            <a:off x="2889504" y="1810512"/>
            <a:ext cx="1865376" cy="384048"/>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frozen, cached (T,768)</a:t>
            </a:r>
            <a:endParaRPr lang="en-US" sz="1050" dirty="0"/>
          </a:p>
        </p:txBody>
      </p:sp>
      <p:sp>
        <p:nvSpPr>
          <p:cNvPr id="11" name="Text 9"/>
          <p:cNvSpPr/>
          <p:nvPr/>
        </p:nvSpPr>
        <p:spPr>
          <a:xfrm>
            <a:off x="4864608" y="1609344"/>
            <a:ext cx="182880" cy="365760"/>
          </a:xfrm>
          <a:prstGeom prst="rect">
            <a:avLst/>
          </a:prstGeom>
          <a:noFill/>
          <a:ln/>
        </p:spPr>
        <p:txBody>
          <a:bodyPr wrap="square" lIns="0" tIns="0" rIns="0" bIns="0" rtlCol="0" anchor="ctr"/>
          <a:lstStyle/>
          <a:p>
            <a:pPr algn="ctr" indent="0" marL="0">
              <a:buNone/>
            </a:pPr>
            <a:r>
              <a:rPr lang="en-US" sz="2000" dirty="0">
                <a:solidFill>
                  <a:srgbClr val="F2A63B"/>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020056" y="1298448"/>
            <a:ext cx="2121408" cy="1060704"/>
          </a:xfrm>
          <a:prstGeom prst="roundRect">
            <a:avLst>
              <a:gd name="adj" fmla="val 5172"/>
            </a:avLst>
          </a:prstGeom>
          <a:solidFill>
            <a:srgbClr val="222E44"/>
          </a:solidFill>
          <a:ln w="12700">
            <a:solidFill>
              <a:srgbClr val="222E44"/>
            </a:solidFill>
            <a:prstDash val="solid"/>
          </a:ln>
        </p:spPr>
      </p:sp>
      <p:sp>
        <p:nvSpPr>
          <p:cNvPr id="13" name="Text 11"/>
          <p:cNvSpPr/>
          <p:nvPr/>
        </p:nvSpPr>
        <p:spPr>
          <a:xfrm>
            <a:off x="5148072" y="1472184"/>
            <a:ext cx="1865376" cy="274320"/>
          </a:xfrm>
          <a:prstGeom prst="rect">
            <a:avLst/>
          </a:prstGeom>
          <a:noFill/>
          <a:ln/>
        </p:spPr>
        <p:txBody>
          <a:bodyPr wrap="square" lIns="0" tIns="0" rIns="0" bIns="0" rtlCol="0" anchor="ctr"/>
          <a:lstStyle/>
          <a:p>
            <a:pPr indent="0" marL="0">
              <a:buNone/>
            </a:pPr>
            <a:r>
              <a:rPr lang="en-US" sz="1300" b="1" dirty="0">
                <a:solidFill>
                  <a:srgbClr val="F2A63B"/>
                </a:solidFill>
                <a:latin typeface="Calibri" pitchFamily="34" charset="0"/>
                <a:ea typeface="Calibri" pitchFamily="34" charset="-122"/>
                <a:cs typeface="Calibri" pitchFamily="34" charset="-120"/>
              </a:rPr>
              <a:t>BiGRU head</a:t>
            </a:r>
            <a:endParaRPr lang="en-US" sz="1300" dirty="0"/>
          </a:p>
        </p:txBody>
      </p:sp>
      <p:sp>
        <p:nvSpPr>
          <p:cNvPr id="14" name="Text 12"/>
          <p:cNvSpPr/>
          <p:nvPr/>
        </p:nvSpPr>
        <p:spPr>
          <a:xfrm>
            <a:off x="5148072" y="1810512"/>
            <a:ext cx="1865376" cy="384048"/>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2.18M params</a:t>
            </a:r>
            <a:endParaRPr lang="en-US" sz="1050" dirty="0"/>
          </a:p>
        </p:txBody>
      </p:sp>
      <p:sp>
        <p:nvSpPr>
          <p:cNvPr id="15" name="Text 13"/>
          <p:cNvSpPr/>
          <p:nvPr/>
        </p:nvSpPr>
        <p:spPr>
          <a:xfrm>
            <a:off x="7123176" y="1609344"/>
            <a:ext cx="182880" cy="365760"/>
          </a:xfrm>
          <a:prstGeom prst="rect">
            <a:avLst/>
          </a:prstGeom>
          <a:noFill/>
          <a:ln/>
        </p:spPr>
        <p:txBody>
          <a:bodyPr wrap="square" lIns="0" tIns="0" rIns="0" bIns="0" rtlCol="0" anchor="ctr"/>
          <a:lstStyle/>
          <a:p>
            <a:pPr algn="ctr" indent="0" marL="0">
              <a:buNone/>
            </a:pPr>
            <a:r>
              <a:rPr lang="en-US" sz="2000" dirty="0">
                <a:solidFill>
                  <a:srgbClr val="F2A63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278624" y="1298448"/>
            <a:ext cx="2121408" cy="1060704"/>
          </a:xfrm>
          <a:prstGeom prst="roundRect">
            <a:avLst>
              <a:gd name="adj" fmla="val 5172"/>
            </a:avLst>
          </a:prstGeom>
          <a:solidFill>
            <a:srgbClr val="1B2436"/>
          </a:solidFill>
          <a:ln w="12700">
            <a:solidFill>
              <a:srgbClr val="1B2436"/>
            </a:solidFill>
            <a:prstDash val="solid"/>
          </a:ln>
        </p:spPr>
      </p:sp>
      <p:sp>
        <p:nvSpPr>
          <p:cNvPr id="17" name="Text 15"/>
          <p:cNvSpPr/>
          <p:nvPr/>
        </p:nvSpPr>
        <p:spPr>
          <a:xfrm>
            <a:off x="7406640" y="1472184"/>
            <a:ext cx="1865376"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Hysteresis + merge</a:t>
            </a:r>
            <a:endParaRPr lang="en-US" sz="1300" dirty="0"/>
          </a:p>
        </p:txBody>
      </p:sp>
      <p:sp>
        <p:nvSpPr>
          <p:cNvPr id="18" name="Text 16"/>
          <p:cNvSpPr/>
          <p:nvPr/>
        </p:nvSpPr>
        <p:spPr>
          <a:xfrm>
            <a:off x="7406640" y="1810512"/>
            <a:ext cx="1865376" cy="384048"/>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few, long segments</a:t>
            </a:r>
            <a:endParaRPr lang="en-US" sz="1050" dirty="0"/>
          </a:p>
        </p:txBody>
      </p:sp>
      <p:sp>
        <p:nvSpPr>
          <p:cNvPr id="19" name="Text 17"/>
          <p:cNvSpPr/>
          <p:nvPr/>
        </p:nvSpPr>
        <p:spPr>
          <a:xfrm>
            <a:off x="9381744" y="1609344"/>
            <a:ext cx="182880" cy="365760"/>
          </a:xfrm>
          <a:prstGeom prst="rect">
            <a:avLst/>
          </a:prstGeom>
          <a:noFill/>
          <a:ln/>
        </p:spPr>
        <p:txBody>
          <a:bodyPr wrap="square" lIns="0" tIns="0" rIns="0" bIns="0" rtlCol="0" anchor="ctr"/>
          <a:lstStyle/>
          <a:p>
            <a:pPr algn="ctr" indent="0" marL="0">
              <a:buNone/>
            </a:pPr>
            <a:r>
              <a:rPr lang="en-US" sz="2000" dirty="0">
                <a:solidFill>
                  <a:srgbClr val="F2A63B"/>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37192" y="1298448"/>
            <a:ext cx="2121408" cy="1060704"/>
          </a:xfrm>
          <a:prstGeom prst="roundRect">
            <a:avLst>
              <a:gd name="adj" fmla="val 5172"/>
            </a:avLst>
          </a:prstGeom>
          <a:solidFill>
            <a:srgbClr val="1B2436"/>
          </a:solidFill>
          <a:ln w="12700">
            <a:solidFill>
              <a:srgbClr val="1B2436"/>
            </a:solidFill>
            <a:prstDash val="solid"/>
          </a:ln>
        </p:spPr>
      </p:sp>
      <p:sp>
        <p:nvSpPr>
          <p:cNvPr id="21" name="Text 19"/>
          <p:cNvSpPr/>
          <p:nvPr/>
        </p:nvSpPr>
        <p:spPr>
          <a:xfrm>
            <a:off x="9665208" y="1472184"/>
            <a:ext cx="1865376"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Events JSON</a:t>
            </a:r>
            <a:endParaRPr lang="en-US" sz="1300" dirty="0"/>
          </a:p>
        </p:txBody>
      </p:sp>
      <p:sp>
        <p:nvSpPr>
          <p:cNvPr id="22" name="Text 20"/>
          <p:cNvSpPr/>
          <p:nvPr/>
        </p:nvSpPr>
        <p:spPr>
          <a:xfrm>
            <a:off x="9665208" y="1810512"/>
            <a:ext cx="1865376" cy="384048"/>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class + interval</a:t>
            </a:r>
            <a:endParaRPr lang="en-US" sz="1050" dirty="0"/>
          </a:p>
        </p:txBody>
      </p:sp>
      <p:sp>
        <p:nvSpPr>
          <p:cNvPr id="23" name="Shape 21"/>
          <p:cNvSpPr/>
          <p:nvPr/>
        </p:nvSpPr>
        <p:spPr>
          <a:xfrm>
            <a:off x="502920" y="2670048"/>
            <a:ext cx="3529584" cy="1481328"/>
          </a:xfrm>
          <a:prstGeom prst="roundRect">
            <a:avLst>
              <a:gd name="adj" fmla="val 3704"/>
            </a:avLst>
          </a:prstGeom>
          <a:solidFill>
            <a:srgbClr val="1B2436"/>
          </a:solidFill>
          <a:ln w="12700">
            <a:solidFill>
              <a:srgbClr val="1B2436"/>
            </a:solidFill>
            <a:prstDash val="solid"/>
          </a:ln>
        </p:spPr>
      </p:sp>
      <p:sp>
        <p:nvSpPr>
          <p:cNvPr id="24" name="Shape 22"/>
          <p:cNvSpPr/>
          <p:nvPr/>
        </p:nvSpPr>
        <p:spPr>
          <a:xfrm>
            <a:off x="685800" y="2852928"/>
            <a:ext cx="274320" cy="274320"/>
          </a:xfrm>
          <a:prstGeom prst="ellipse">
            <a:avLst/>
          </a:prstGeom>
          <a:solidFill>
            <a:srgbClr val="F2A63B"/>
          </a:solidFill>
          <a:ln w="12700">
            <a:solidFill>
              <a:srgbClr val="F2A63B"/>
            </a:solidFill>
            <a:prstDash val="solid"/>
          </a:ln>
        </p:spPr>
      </p:sp>
      <p:sp>
        <p:nvSpPr>
          <p:cNvPr id="25" name="Text 23"/>
          <p:cNvSpPr/>
          <p:nvPr/>
        </p:nvSpPr>
        <p:spPr>
          <a:xfrm>
            <a:off x="685800" y="2871216"/>
            <a:ext cx="274320" cy="237744"/>
          </a:xfrm>
          <a:prstGeom prst="rect">
            <a:avLst/>
          </a:prstGeom>
          <a:noFill/>
          <a:ln/>
        </p:spPr>
        <p:txBody>
          <a:bodyPr wrap="square" lIns="0" tIns="0" rIns="0" bIns="0" rtlCol="0" anchor="ctr"/>
          <a:lstStyle/>
          <a:p>
            <a:pPr algn="ctr" indent="0" marL="0">
              <a:buNone/>
            </a:pPr>
            <a:r>
              <a:rPr lang="en-US" sz="1200" b="1" dirty="0">
                <a:solidFill>
                  <a:srgbClr val="10151F"/>
                </a:solidFill>
                <a:latin typeface="Calibri" pitchFamily="34" charset="0"/>
                <a:ea typeface="Calibri" pitchFamily="34" charset="-122"/>
                <a:cs typeface="Calibri" pitchFamily="34" charset="-120"/>
              </a:rPr>
              <a:t>1</a:t>
            </a:r>
            <a:endParaRPr lang="en-US" sz="1200" dirty="0"/>
          </a:p>
        </p:txBody>
      </p:sp>
      <p:sp>
        <p:nvSpPr>
          <p:cNvPr id="26" name="Text 24"/>
          <p:cNvSpPr/>
          <p:nvPr/>
        </p:nvSpPr>
        <p:spPr>
          <a:xfrm>
            <a:off x="1051560" y="2852928"/>
            <a:ext cx="2798064"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 data ≠ test data</a:t>
            </a:r>
            <a:endParaRPr lang="en-US" sz="1300" dirty="0"/>
          </a:p>
        </p:txBody>
      </p:sp>
      <p:sp>
        <p:nvSpPr>
          <p:cNvPr id="27" name="Text 25"/>
          <p:cNvSpPr/>
          <p:nvPr/>
        </p:nvSpPr>
        <p:spPr>
          <a:xfrm>
            <a:off x="685800" y="3200400"/>
            <a:ext cx="3163824" cy="841248"/>
          </a:xfrm>
          <a:prstGeom prst="rect">
            <a:avLst/>
          </a:prstGeom>
          <a:noFill/>
          <a:ln/>
        </p:spPr>
        <p:txBody>
          <a:bodyPr wrap="square" lIns="0" tIns="0" rIns="0" bIns="0" rtlCol="0" anchor="ctr"/>
          <a:lstStyle/>
          <a:p>
            <a:pPr indent="0" marL="0">
              <a:lnSpc>
                <a:spcPct val="112000"/>
              </a:lnSpc>
              <a:buNone/>
            </a:pPr>
            <a:r>
              <a:rPr lang="en-US" sz="950" dirty="0">
                <a:solidFill>
                  <a:srgbClr val="CADCFC"/>
                </a:solidFill>
                <a:latin typeface="Calibri" pitchFamily="34" charset="0"/>
                <a:ea typeface="Calibri" pitchFamily="34" charset="-122"/>
                <a:cs typeface="Calibri" pitchFamily="34" charset="-120"/>
              </a:rPr>
              <a:t>Every training clip is ~5 s and single-event. Levels 2–3 are 240–629 s and multi-event. We synthesise long sequences by concatenating clip embeddings, carrying offsets through to exact labels — free supervision for the regime we are scored on.</a:t>
            </a:r>
            <a:endParaRPr lang="en-US" sz="950" dirty="0"/>
          </a:p>
        </p:txBody>
      </p:sp>
      <p:sp>
        <p:nvSpPr>
          <p:cNvPr id="28" name="Shape 26"/>
          <p:cNvSpPr/>
          <p:nvPr/>
        </p:nvSpPr>
        <p:spPr>
          <a:xfrm>
            <a:off x="4315968" y="2670048"/>
            <a:ext cx="3529584" cy="1481328"/>
          </a:xfrm>
          <a:prstGeom prst="roundRect">
            <a:avLst>
              <a:gd name="adj" fmla="val 3704"/>
            </a:avLst>
          </a:prstGeom>
          <a:solidFill>
            <a:srgbClr val="1B2436"/>
          </a:solidFill>
          <a:ln w="12700">
            <a:solidFill>
              <a:srgbClr val="1B2436"/>
            </a:solidFill>
            <a:prstDash val="solid"/>
          </a:ln>
        </p:spPr>
      </p:sp>
      <p:sp>
        <p:nvSpPr>
          <p:cNvPr id="29" name="Shape 27"/>
          <p:cNvSpPr/>
          <p:nvPr/>
        </p:nvSpPr>
        <p:spPr>
          <a:xfrm>
            <a:off x="4498848" y="2852928"/>
            <a:ext cx="274320" cy="274320"/>
          </a:xfrm>
          <a:prstGeom prst="ellipse">
            <a:avLst/>
          </a:prstGeom>
          <a:solidFill>
            <a:srgbClr val="F2A63B"/>
          </a:solidFill>
          <a:ln w="12700">
            <a:solidFill>
              <a:srgbClr val="F2A63B"/>
            </a:solidFill>
            <a:prstDash val="solid"/>
          </a:ln>
        </p:spPr>
      </p:sp>
      <p:sp>
        <p:nvSpPr>
          <p:cNvPr id="30" name="Text 28"/>
          <p:cNvSpPr/>
          <p:nvPr/>
        </p:nvSpPr>
        <p:spPr>
          <a:xfrm>
            <a:off x="4498848" y="2871216"/>
            <a:ext cx="274320" cy="237744"/>
          </a:xfrm>
          <a:prstGeom prst="rect">
            <a:avLst/>
          </a:prstGeom>
          <a:noFill/>
          <a:ln/>
        </p:spPr>
        <p:txBody>
          <a:bodyPr wrap="square" lIns="0" tIns="0" rIns="0" bIns="0" rtlCol="0" anchor="ctr"/>
          <a:lstStyle/>
          <a:p>
            <a:pPr algn="ctr" indent="0" marL="0">
              <a:buNone/>
            </a:pPr>
            <a:r>
              <a:rPr lang="en-US" sz="1200" b="1" dirty="0">
                <a:solidFill>
                  <a:srgbClr val="10151F"/>
                </a:solidFill>
                <a:latin typeface="Calibri" pitchFamily="34" charset="0"/>
                <a:ea typeface="Calibri" pitchFamily="34" charset="-122"/>
                <a:cs typeface="Calibri" pitchFamily="34" charset="-120"/>
              </a:rPr>
              <a:t>2</a:t>
            </a:r>
            <a:endParaRPr lang="en-US" sz="1200" dirty="0"/>
          </a:p>
        </p:txBody>
      </p:sp>
      <p:sp>
        <p:nvSpPr>
          <p:cNvPr id="31" name="Text 29"/>
          <p:cNvSpPr/>
          <p:nvPr/>
        </p:nvSpPr>
        <p:spPr>
          <a:xfrm>
            <a:off x="4864608" y="2852928"/>
            <a:ext cx="2798064"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Dense labels, no MIL</a:t>
            </a:r>
            <a:endParaRPr lang="en-US" sz="1300" dirty="0"/>
          </a:p>
        </p:txBody>
      </p:sp>
      <p:sp>
        <p:nvSpPr>
          <p:cNvPr id="32" name="Text 30"/>
          <p:cNvSpPr/>
          <p:nvPr/>
        </p:nvSpPr>
        <p:spPr>
          <a:xfrm>
            <a:off x="4498848" y="3200400"/>
            <a:ext cx="3163824" cy="841248"/>
          </a:xfrm>
          <a:prstGeom prst="rect">
            <a:avLst/>
          </a:prstGeom>
          <a:noFill/>
          <a:ln/>
        </p:spPr>
        <p:txBody>
          <a:bodyPr wrap="square" lIns="0" tIns="0" rIns="0" bIns="0" rtlCol="0" anchor="ctr"/>
          <a:lstStyle/>
          <a:p>
            <a:pPr indent="0" marL="0">
              <a:lnSpc>
                <a:spcPct val="112000"/>
              </a:lnSpc>
              <a:buNone/>
            </a:pPr>
            <a:r>
              <a:rPr lang="en-US" sz="950" dirty="0">
                <a:solidFill>
                  <a:srgbClr val="CADCFC"/>
                </a:solidFill>
                <a:latin typeface="Calibri" pitchFamily="34" charset="0"/>
                <a:ea typeface="Calibri" pitchFamily="34" charset="-122"/>
                <a:cs typeface="Calibri" pitchFamily="34" charset="-120"/>
              </a:rPr>
              <a:t>Audit showed all 2 200 anomaly rows already carry timestamps, so the planned MIL pooling was unnecessary. But 1 551 span their whole clip, so only ~649 teach boundaries — those get 3× loss weight.</a:t>
            </a:r>
            <a:endParaRPr lang="en-US" sz="950" dirty="0"/>
          </a:p>
        </p:txBody>
      </p:sp>
      <p:sp>
        <p:nvSpPr>
          <p:cNvPr id="33" name="Shape 31"/>
          <p:cNvSpPr/>
          <p:nvPr/>
        </p:nvSpPr>
        <p:spPr>
          <a:xfrm>
            <a:off x="8129016" y="2670048"/>
            <a:ext cx="3529584" cy="1481328"/>
          </a:xfrm>
          <a:prstGeom prst="roundRect">
            <a:avLst>
              <a:gd name="adj" fmla="val 3704"/>
            </a:avLst>
          </a:prstGeom>
          <a:solidFill>
            <a:srgbClr val="1B2436"/>
          </a:solidFill>
          <a:ln w="12700">
            <a:solidFill>
              <a:srgbClr val="1B2436"/>
            </a:solidFill>
            <a:prstDash val="solid"/>
          </a:ln>
        </p:spPr>
      </p:sp>
      <p:sp>
        <p:nvSpPr>
          <p:cNvPr id="34" name="Shape 32"/>
          <p:cNvSpPr/>
          <p:nvPr/>
        </p:nvSpPr>
        <p:spPr>
          <a:xfrm>
            <a:off x="8311896" y="2852928"/>
            <a:ext cx="274320" cy="274320"/>
          </a:xfrm>
          <a:prstGeom prst="ellipse">
            <a:avLst/>
          </a:prstGeom>
          <a:solidFill>
            <a:srgbClr val="F2A63B"/>
          </a:solidFill>
          <a:ln w="12700">
            <a:solidFill>
              <a:srgbClr val="F2A63B"/>
            </a:solidFill>
            <a:prstDash val="solid"/>
          </a:ln>
        </p:spPr>
      </p:sp>
      <p:sp>
        <p:nvSpPr>
          <p:cNvPr id="35" name="Text 33"/>
          <p:cNvSpPr/>
          <p:nvPr/>
        </p:nvSpPr>
        <p:spPr>
          <a:xfrm>
            <a:off x="8311896" y="2871216"/>
            <a:ext cx="274320" cy="237744"/>
          </a:xfrm>
          <a:prstGeom prst="rect">
            <a:avLst/>
          </a:prstGeom>
          <a:noFill/>
          <a:ln/>
        </p:spPr>
        <p:txBody>
          <a:bodyPr wrap="square" lIns="0" tIns="0" rIns="0" bIns="0" rtlCol="0" anchor="ctr"/>
          <a:lstStyle/>
          <a:p>
            <a:pPr algn="ctr" indent="0" marL="0">
              <a:buNone/>
            </a:pPr>
            <a:r>
              <a:rPr lang="en-US" sz="1200" b="1" dirty="0">
                <a:solidFill>
                  <a:srgbClr val="10151F"/>
                </a:solidFill>
                <a:latin typeface="Calibri" pitchFamily="34" charset="0"/>
                <a:ea typeface="Calibri" pitchFamily="34" charset="-122"/>
                <a:cs typeface="Calibri" pitchFamily="34" charset="-120"/>
              </a:rPr>
              <a:t>3</a:t>
            </a:r>
            <a:endParaRPr lang="en-US" sz="1200" dirty="0"/>
          </a:p>
        </p:txBody>
      </p:sp>
      <p:sp>
        <p:nvSpPr>
          <p:cNvPr id="36" name="Text 34"/>
          <p:cNvSpPr/>
          <p:nvPr/>
        </p:nvSpPr>
        <p:spPr>
          <a:xfrm>
            <a:off x="8677656" y="2852928"/>
            <a:ext cx="2798064"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Precision over recall</a:t>
            </a:r>
            <a:endParaRPr lang="en-US" sz="1300" dirty="0"/>
          </a:p>
        </p:txBody>
      </p:sp>
      <p:sp>
        <p:nvSpPr>
          <p:cNvPr id="37" name="Text 35"/>
          <p:cNvSpPr/>
          <p:nvPr/>
        </p:nvSpPr>
        <p:spPr>
          <a:xfrm>
            <a:off x="8311896" y="3200400"/>
            <a:ext cx="3163824" cy="841248"/>
          </a:xfrm>
          <a:prstGeom prst="rect">
            <a:avLst/>
          </a:prstGeom>
          <a:noFill/>
          <a:ln/>
        </p:spPr>
        <p:txBody>
          <a:bodyPr wrap="square" lIns="0" tIns="0" rIns="0" bIns="0" rtlCol="0" anchor="ctr"/>
          <a:lstStyle/>
          <a:p>
            <a:pPr indent="0" marL="0">
              <a:lnSpc>
                <a:spcPct val="112000"/>
              </a:lnSpc>
              <a:buNone/>
            </a:pPr>
            <a:r>
              <a:rPr lang="en-US" sz="950" dirty="0">
                <a:solidFill>
                  <a:srgbClr val="CADCFC"/>
                </a:solidFill>
                <a:latin typeface="Calibri" pitchFamily="34" charset="0"/>
                <a:ea typeface="Calibri" pitchFamily="34" charset="-122"/>
                <a:cs typeface="Calibri" pitchFamily="34" charset="-120"/>
              </a:rPr>
              <a:t>Scoring punishes false alarms far harder than misses. A perfect event set split into five fragments drops L2 from 1.00 to 0.47. So: high enter threshold, 20 s merge gap, few long segments.</a:t>
            </a:r>
            <a:endParaRPr lang="en-US" sz="950" dirty="0"/>
          </a:p>
        </p:txBody>
      </p:sp>
      <p:sp>
        <p:nvSpPr>
          <p:cNvPr id="38" name="Shape 36"/>
          <p:cNvSpPr/>
          <p:nvPr/>
        </p:nvSpPr>
        <p:spPr>
          <a:xfrm>
            <a:off x="502920" y="4370832"/>
            <a:ext cx="2583180" cy="960120"/>
          </a:xfrm>
          <a:prstGeom prst="roundRect">
            <a:avLst>
              <a:gd name="adj" fmla="val 5714"/>
            </a:avLst>
          </a:prstGeom>
          <a:solidFill>
            <a:srgbClr val="222E44"/>
          </a:solidFill>
          <a:ln w="12700">
            <a:solidFill>
              <a:srgbClr val="222E44"/>
            </a:solidFill>
            <a:prstDash val="solid"/>
          </a:ln>
        </p:spPr>
      </p:sp>
      <p:sp>
        <p:nvSpPr>
          <p:cNvPr id="39" name="Text 37"/>
          <p:cNvSpPr/>
          <p:nvPr/>
        </p:nvSpPr>
        <p:spPr>
          <a:xfrm>
            <a:off x="667512" y="4480560"/>
            <a:ext cx="2253996" cy="457200"/>
          </a:xfrm>
          <a:prstGeom prst="rect">
            <a:avLst/>
          </a:prstGeom>
          <a:noFill/>
          <a:ln/>
        </p:spPr>
        <p:txBody>
          <a:bodyPr wrap="square" lIns="0" tIns="0" rIns="0" bIns="0" rtlCol="0" anchor="ctr"/>
          <a:lstStyle/>
          <a:p>
            <a:pPr indent="0" marL="0">
              <a:buNone/>
            </a:pPr>
            <a:r>
              <a:rPr lang="en-US" sz="2600" b="1" dirty="0">
                <a:solidFill>
                  <a:srgbClr val="F2A63B"/>
                </a:solidFill>
                <a:latin typeface="Cambria" pitchFamily="34" charset="0"/>
                <a:ea typeface="Cambria" pitchFamily="34" charset="-122"/>
                <a:cs typeface="Cambria" pitchFamily="34" charset="-120"/>
              </a:rPr>
              <a:t>41.7×</a:t>
            </a:r>
            <a:endParaRPr lang="en-US" sz="2600" dirty="0"/>
          </a:p>
        </p:txBody>
      </p:sp>
      <p:sp>
        <p:nvSpPr>
          <p:cNvPr id="40" name="Text 38"/>
          <p:cNvSpPr/>
          <p:nvPr/>
        </p:nvSpPr>
        <p:spPr>
          <a:xfrm>
            <a:off x="667512" y="4974336"/>
            <a:ext cx="2253996" cy="274320"/>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faster than realtime</a:t>
            </a:r>
            <a:endParaRPr lang="en-US" sz="1050" dirty="0"/>
          </a:p>
        </p:txBody>
      </p:sp>
      <p:sp>
        <p:nvSpPr>
          <p:cNvPr id="41" name="Shape 39"/>
          <p:cNvSpPr/>
          <p:nvPr/>
        </p:nvSpPr>
        <p:spPr>
          <a:xfrm>
            <a:off x="3360420" y="4370832"/>
            <a:ext cx="2583180" cy="960120"/>
          </a:xfrm>
          <a:prstGeom prst="roundRect">
            <a:avLst>
              <a:gd name="adj" fmla="val 5714"/>
            </a:avLst>
          </a:prstGeom>
          <a:solidFill>
            <a:srgbClr val="222E44"/>
          </a:solidFill>
          <a:ln w="12700">
            <a:solidFill>
              <a:srgbClr val="222E44"/>
            </a:solidFill>
            <a:prstDash val="solid"/>
          </a:ln>
        </p:spPr>
      </p:sp>
      <p:sp>
        <p:nvSpPr>
          <p:cNvPr id="42" name="Text 40"/>
          <p:cNvSpPr/>
          <p:nvPr/>
        </p:nvSpPr>
        <p:spPr>
          <a:xfrm>
            <a:off x="3525012" y="4480560"/>
            <a:ext cx="2253996" cy="457200"/>
          </a:xfrm>
          <a:prstGeom prst="rect">
            <a:avLst/>
          </a:prstGeom>
          <a:noFill/>
          <a:ln/>
        </p:spPr>
        <p:txBody>
          <a:bodyPr wrap="square" lIns="0" tIns="0" rIns="0" bIns="0" rtlCol="0" anchor="ctr"/>
          <a:lstStyle/>
          <a:p>
            <a:pPr indent="0" marL="0">
              <a:buNone/>
            </a:pPr>
            <a:r>
              <a:rPr lang="en-US" sz="2600" b="1" dirty="0">
                <a:solidFill>
                  <a:srgbClr val="F2A63B"/>
                </a:solidFill>
                <a:latin typeface="Cambria" pitchFamily="34" charset="0"/>
                <a:ea typeface="Cambria" pitchFamily="34" charset="-122"/>
                <a:cs typeface="Cambria" pitchFamily="34" charset="-120"/>
              </a:rPr>
              <a:t>0.024</a:t>
            </a:r>
            <a:endParaRPr lang="en-US" sz="2600" dirty="0"/>
          </a:p>
        </p:txBody>
      </p:sp>
      <p:sp>
        <p:nvSpPr>
          <p:cNvPr id="43" name="Text 41"/>
          <p:cNvSpPr/>
          <p:nvPr/>
        </p:nvSpPr>
        <p:spPr>
          <a:xfrm>
            <a:off x="3525012" y="4974336"/>
            <a:ext cx="2253996" cy="274320"/>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processing ÷ video duration</a:t>
            </a:r>
            <a:endParaRPr lang="en-US" sz="1050" dirty="0"/>
          </a:p>
        </p:txBody>
      </p:sp>
      <p:sp>
        <p:nvSpPr>
          <p:cNvPr id="44" name="Shape 42"/>
          <p:cNvSpPr/>
          <p:nvPr/>
        </p:nvSpPr>
        <p:spPr>
          <a:xfrm>
            <a:off x="6217920" y="4370832"/>
            <a:ext cx="2583180" cy="960120"/>
          </a:xfrm>
          <a:prstGeom prst="roundRect">
            <a:avLst>
              <a:gd name="adj" fmla="val 5714"/>
            </a:avLst>
          </a:prstGeom>
          <a:solidFill>
            <a:srgbClr val="222E44"/>
          </a:solidFill>
          <a:ln w="12700">
            <a:solidFill>
              <a:srgbClr val="222E44"/>
            </a:solidFill>
            <a:prstDash val="solid"/>
          </a:ln>
        </p:spPr>
      </p:sp>
      <p:sp>
        <p:nvSpPr>
          <p:cNvPr id="45" name="Text 43"/>
          <p:cNvSpPr/>
          <p:nvPr/>
        </p:nvSpPr>
        <p:spPr>
          <a:xfrm>
            <a:off x="6382512" y="4480560"/>
            <a:ext cx="2253996" cy="457200"/>
          </a:xfrm>
          <a:prstGeom prst="rect">
            <a:avLst/>
          </a:prstGeom>
          <a:noFill/>
          <a:ln/>
        </p:spPr>
        <p:txBody>
          <a:bodyPr wrap="square" lIns="0" tIns="0" rIns="0" bIns="0" rtlCol="0" anchor="ctr"/>
          <a:lstStyle/>
          <a:p>
            <a:pPr indent="0" marL="0">
              <a:buNone/>
            </a:pPr>
            <a:r>
              <a:rPr lang="en-US" sz="2600" b="1" dirty="0">
                <a:solidFill>
                  <a:srgbClr val="F2A63B"/>
                </a:solidFill>
                <a:latin typeface="Cambria" pitchFamily="34" charset="0"/>
                <a:ea typeface="Cambria" pitchFamily="34" charset="-122"/>
                <a:cs typeface="Cambria" pitchFamily="34" charset="-120"/>
              </a:rPr>
              <a:t>2.18 M</a:t>
            </a:r>
            <a:endParaRPr lang="en-US" sz="2600" dirty="0"/>
          </a:p>
        </p:txBody>
      </p:sp>
      <p:sp>
        <p:nvSpPr>
          <p:cNvPr id="46" name="Text 44"/>
          <p:cNvSpPr/>
          <p:nvPr/>
        </p:nvSpPr>
        <p:spPr>
          <a:xfrm>
            <a:off x="6382512" y="4974336"/>
            <a:ext cx="2253996" cy="274320"/>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runtime parameters in the head</a:t>
            </a:r>
            <a:endParaRPr lang="en-US" sz="1050" dirty="0"/>
          </a:p>
        </p:txBody>
      </p:sp>
      <p:sp>
        <p:nvSpPr>
          <p:cNvPr id="47" name="Shape 45"/>
          <p:cNvSpPr/>
          <p:nvPr/>
        </p:nvSpPr>
        <p:spPr>
          <a:xfrm>
            <a:off x="9075420" y="4370832"/>
            <a:ext cx="2583180" cy="960120"/>
          </a:xfrm>
          <a:prstGeom prst="roundRect">
            <a:avLst>
              <a:gd name="adj" fmla="val 5714"/>
            </a:avLst>
          </a:prstGeom>
          <a:solidFill>
            <a:srgbClr val="222E44"/>
          </a:solidFill>
          <a:ln w="12700">
            <a:solidFill>
              <a:srgbClr val="222E44"/>
            </a:solidFill>
            <a:prstDash val="solid"/>
          </a:ln>
        </p:spPr>
      </p:sp>
      <p:sp>
        <p:nvSpPr>
          <p:cNvPr id="48" name="Text 46"/>
          <p:cNvSpPr/>
          <p:nvPr/>
        </p:nvSpPr>
        <p:spPr>
          <a:xfrm>
            <a:off x="9240012" y="4480560"/>
            <a:ext cx="2253996" cy="457200"/>
          </a:xfrm>
          <a:prstGeom prst="rect">
            <a:avLst/>
          </a:prstGeom>
          <a:noFill/>
          <a:ln/>
        </p:spPr>
        <p:txBody>
          <a:bodyPr wrap="square" lIns="0" tIns="0" rIns="0" bIns="0" rtlCol="0" anchor="ctr"/>
          <a:lstStyle/>
          <a:p>
            <a:pPr indent="0" marL="0">
              <a:buNone/>
            </a:pPr>
            <a:r>
              <a:rPr lang="en-US" sz="2600" b="1" dirty="0">
                <a:solidFill>
                  <a:srgbClr val="F2A63B"/>
                </a:solidFill>
                <a:latin typeface="Cambria" pitchFamily="34" charset="0"/>
                <a:ea typeface="Cambria" pitchFamily="34" charset="-122"/>
                <a:cs typeface="Cambria" pitchFamily="34" charset="-120"/>
              </a:rPr>
              <a:t>0</a:t>
            </a:r>
            <a:endParaRPr lang="en-US" sz="2600" dirty="0"/>
          </a:p>
        </p:txBody>
      </p:sp>
      <p:sp>
        <p:nvSpPr>
          <p:cNvPr id="49" name="Text 47"/>
          <p:cNvSpPr/>
          <p:nvPr/>
        </p:nvSpPr>
        <p:spPr>
          <a:xfrm>
            <a:off x="9240012" y="4974336"/>
            <a:ext cx="2253996" cy="274320"/>
          </a:xfrm>
          <a:prstGeom prst="rect">
            <a:avLst/>
          </a:prstGeom>
          <a:noFill/>
          <a:ln/>
        </p:spPr>
        <p:txBody>
          <a:bodyPr wrap="square" lIns="0" tIns="0" rIns="0" bIns="0" rtlCol="0" anchor="ctr"/>
          <a:lstStyle/>
          <a:p>
            <a:pPr indent="0" marL="0">
              <a:buNone/>
            </a:pPr>
            <a:r>
              <a:rPr lang="en-US" sz="1050" dirty="0">
                <a:solidFill>
                  <a:srgbClr val="8496B4"/>
                </a:solidFill>
                <a:latin typeface="Calibri" pitchFamily="34" charset="0"/>
                <a:ea typeface="Calibri" pitchFamily="34" charset="-122"/>
                <a:cs typeface="Calibri" pitchFamily="34" charset="-120"/>
              </a:rPr>
              <a:t>hosted models at inference</a:t>
            </a:r>
            <a:endParaRPr lang="en-US" sz="1050" dirty="0"/>
          </a:p>
        </p:txBody>
      </p:sp>
      <p:sp>
        <p:nvSpPr>
          <p:cNvPr id="50" name="Text 48"/>
          <p:cNvSpPr/>
          <p:nvPr/>
        </p:nvSpPr>
        <p:spPr>
          <a:xfrm>
            <a:off x="502920" y="5532120"/>
            <a:ext cx="11155680" cy="411480"/>
          </a:xfrm>
          <a:prstGeom prst="rect">
            <a:avLst/>
          </a:prstGeom>
          <a:noFill/>
          <a:ln/>
        </p:spPr>
        <p:txBody>
          <a:bodyPr wrap="square" lIns="0" tIns="0" rIns="0" bIns="0" rtlCol="0" anchor="ctr"/>
          <a:lstStyle/>
          <a:p>
            <a:pPr indent="0" marL="0">
              <a:buNone/>
            </a:pPr>
            <a:r>
              <a:rPr lang="en-US" sz="1100" i="1" dirty="0">
                <a:solidFill>
                  <a:srgbClr val="8496B4"/>
                </a:solidFill>
                <a:latin typeface="Calibri" pitchFamily="34" charset="0"/>
                <a:ea typeface="Calibri" pitchFamily="34" charset="-122"/>
                <a:cs typeface="Calibri" pitchFamily="34" charset="-120"/>
              </a:rPr>
              <a:t>Why this shape: Stage A alone is a complete submission. A heavier verifier could sit on top of its candidate segments — we built one, measured it, and it lost (see next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51F"/>
        </a:solidFill>
      </p:bgPr>
    </p:bg>
    <p:spTree>
      <p:nvGrpSpPr>
        <p:cNvPr id="1" name=""/>
        <p:cNvGrpSpPr/>
        <p:nvPr/>
      </p:nvGrpSpPr>
      <p:grpSpPr>
        <a:xfrm>
          <a:off x="0" y="0"/>
          <a:ext cx="0" cy="0"/>
          <a:chOff x="0" y="0"/>
          <a:chExt cx="0" cy="0"/>
        </a:xfrm>
      </p:grpSpPr>
      <p:sp>
        <p:nvSpPr>
          <p:cNvPr id="2" name="Text 0"/>
          <p:cNvSpPr/>
          <p:nvPr/>
        </p:nvSpPr>
        <p:spPr>
          <a:xfrm>
            <a:off x="502920" y="310896"/>
            <a:ext cx="11155680"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Private set: 46.2 measured, 62.0 projected after three fixes</a:t>
            </a:r>
            <a:endParaRPr lang="en-US" sz="2700" dirty="0"/>
          </a:p>
        </p:txBody>
      </p:sp>
      <p:sp>
        <p:nvSpPr>
          <p:cNvPr id="3" name="Text 1"/>
          <p:cNvSpPr/>
          <p:nvPr/>
        </p:nvSpPr>
        <p:spPr>
          <a:xfrm>
            <a:off x="502920" y="795528"/>
            <a:ext cx="11155680" cy="292608"/>
          </a:xfrm>
          <a:prstGeom prst="rect">
            <a:avLst/>
          </a:prstGeom>
          <a:noFill/>
          <a:ln/>
        </p:spPr>
        <p:txBody>
          <a:bodyPr wrap="square" lIns="0" tIns="0" rIns="0" bIns="0" rtlCol="0" anchor="ctr"/>
          <a:lstStyle/>
          <a:p>
            <a:pPr indent="0" marL="0">
              <a:buNone/>
            </a:pPr>
            <a:r>
              <a:rPr lang="en-US" sz="1300" dirty="0">
                <a:solidFill>
                  <a:srgbClr val="8496B4"/>
                </a:solidFill>
                <a:latin typeface="Calibri" pitchFamily="34" charset="0"/>
                <a:ea typeface="Calibri" pitchFamily="34" charset="-122"/>
                <a:cs typeface="Calibri" pitchFamily="34" charset="-120"/>
              </a:rPr>
              <a:t>Every number is measured on the public set or deduced from upload deltas. Projections are labelled as such.</a:t>
            </a:r>
            <a:endParaRPr lang="en-US" sz="1300" dirty="0"/>
          </a:p>
        </p:txBody>
      </p:sp>
      <p:sp>
        <p:nvSpPr>
          <p:cNvPr id="4" name="Shape 2"/>
          <p:cNvSpPr/>
          <p:nvPr/>
        </p:nvSpPr>
        <p:spPr>
          <a:xfrm>
            <a:off x="502920" y="1280160"/>
            <a:ext cx="2578608" cy="1298448"/>
          </a:xfrm>
          <a:prstGeom prst="roundRect">
            <a:avLst>
              <a:gd name="adj" fmla="val 4225"/>
            </a:avLst>
          </a:prstGeom>
          <a:solidFill>
            <a:srgbClr val="222E44"/>
          </a:solidFill>
          <a:ln w="12700">
            <a:solidFill>
              <a:srgbClr val="222E44"/>
            </a:solidFill>
            <a:prstDash val="solid"/>
          </a:ln>
        </p:spPr>
      </p:sp>
      <p:sp>
        <p:nvSpPr>
          <p:cNvPr id="5" name="Text 3"/>
          <p:cNvSpPr/>
          <p:nvPr/>
        </p:nvSpPr>
        <p:spPr>
          <a:xfrm>
            <a:off x="667512" y="1389888"/>
            <a:ext cx="2249424" cy="237744"/>
          </a:xfrm>
          <a:prstGeom prst="rect">
            <a:avLst/>
          </a:prstGeom>
          <a:noFill/>
          <a:ln/>
        </p:spPr>
        <p:txBody>
          <a:bodyPr wrap="square" lIns="0" tIns="0" rIns="0" bIns="0" rtlCol="0" anchor="ctr"/>
          <a:lstStyle/>
          <a:p>
            <a:pPr indent="0" marL="0">
              <a:buNone/>
            </a:pPr>
            <a:r>
              <a:rPr lang="en-US" sz="1100" dirty="0">
                <a:solidFill>
                  <a:srgbClr val="8496B4"/>
                </a:solidFill>
                <a:latin typeface="Calibri" pitchFamily="34" charset="0"/>
                <a:ea typeface="Calibri" pitchFamily="34" charset="-122"/>
                <a:cs typeface="Calibri" pitchFamily="34" charset="-120"/>
              </a:rPr>
              <a:t>D1 Clear event</a:t>
            </a:r>
            <a:endParaRPr lang="en-US" sz="1100" dirty="0"/>
          </a:p>
        </p:txBody>
      </p:sp>
      <p:sp>
        <p:nvSpPr>
          <p:cNvPr id="6" name="Text 4"/>
          <p:cNvSpPr/>
          <p:nvPr/>
        </p:nvSpPr>
        <p:spPr>
          <a:xfrm>
            <a:off x="667512" y="1682496"/>
            <a:ext cx="2249424" cy="512064"/>
          </a:xfrm>
          <a:prstGeom prst="rect">
            <a:avLst/>
          </a:prstGeom>
          <a:noFill/>
          <a:ln/>
        </p:spPr>
        <p:txBody>
          <a:bodyPr wrap="square" lIns="0" tIns="0" rIns="0" bIns="0" rtlCol="0" anchor="ctr"/>
          <a:lstStyle/>
          <a:p>
            <a:pPr indent="0" marL="0">
              <a:buNone/>
            </a:pPr>
            <a:r>
              <a:rPr lang="en-US" sz="3000" b="1" dirty="0">
                <a:solidFill>
                  <a:srgbClr val="F2A63B"/>
                </a:solidFill>
                <a:latin typeface="Cambria" pitchFamily="34" charset="0"/>
                <a:ea typeface="Cambria" pitchFamily="34" charset="-122"/>
                <a:cs typeface="Cambria" pitchFamily="34" charset="-120"/>
              </a:rPr>
              <a:t>13.4</a:t>
            </a:r>
            <a:pPr indent="0" marL="0">
              <a:buNone/>
            </a:pPr>
            <a:r>
              <a:rPr lang="en-US" sz="1300" dirty="0">
                <a:solidFill>
                  <a:srgbClr val="8496B4"/>
                </a:solidFill>
                <a:latin typeface="Cambria" pitchFamily="34" charset="0"/>
                <a:ea typeface="Cambria" pitchFamily="34" charset="-122"/>
                <a:cs typeface="Cambria" pitchFamily="34" charset="-120"/>
              </a:rPr>
              <a:t>  / 25</a:t>
            </a:r>
            <a:endParaRPr lang="en-US" sz="3000" dirty="0"/>
          </a:p>
        </p:txBody>
      </p:sp>
      <p:sp>
        <p:nvSpPr>
          <p:cNvPr id="7" name="Text 5"/>
          <p:cNvSpPr/>
          <p:nvPr/>
        </p:nvSpPr>
        <p:spPr>
          <a:xfrm>
            <a:off x="667512" y="2231136"/>
            <a:ext cx="2249424" cy="237744"/>
          </a:xfrm>
          <a:prstGeom prst="rect">
            <a:avLst/>
          </a:prstGeom>
          <a:noFill/>
          <a:ln/>
        </p:spPr>
        <p:txBody>
          <a:bodyPr wrap="square" lIns="0" tIns="0" rIns="0" bIns="0" rtlCol="0" anchor="ctr"/>
          <a:lstStyle/>
          <a:p>
            <a:pPr indent="0" marL="0">
              <a:buNone/>
            </a:pPr>
            <a:r>
              <a:rPr lang="en-US" sz="1000" dirty="0">
                <a:solidFill>
                  <a:srgbClr val="5FCB8E"/>
                </a:solidFill>
                <a:latin typeface="Calibri" pitchFamily="34" charset="0"/>
                <a:ea typeface="Calibri" pitchFamily="34" charset="-122"/>
                <a:cs typeface="Calibri" pitchFamily="34" charset="-120"/>
              </a:rPr>
              <a:t>projected  18.1</a:t>
            </a:r>
            <a:endParaRPr lang="en-US" sz="1000" dirty="0"/>
          </a:p>
        </p:txBody>
      </p:sp>
      <p:sp>
        <p:nvSpPr>
          <p:cNvPr id="8" name="Shape 6"/>
          <p:cNvSpPr/>
          <p:nvPr/>
        </p:nvSpPr>
        <p:spPr>
          <a:xfrm>
            <a:off x="3364992" y="1280160"/>
            <a:ext cx="2578608" cy="1298448"/>
          </a:xfrm>
          <a:prstGeom prst="roundRect">
            <a:avLst>
              <a:gd name="adj" fmla="val 4225"/>
            </a:avLst>
          </a:prstGeom>
          <a:solidFill>
            <a:srgbClr val="222E44"/>
          </a:solidFill>
          <a:ln w="12700">
            <a:solidFill>
              <a:srgbClr val="222E44"/>
            </a:solidFill>
            <a:prstDash val="solid"/>
          </a:ln>
        </p:spPr>
      </p:sp>
      <p:sp>
        <p:nvSpPr>
          <p:cNvPr id="9" name="Text 7"/>
          <p:cNvSpPr/>
          <p:nvPr/>
        </p:nvSpPr>
        <p:spPr>
          <a:xfrm>
            <a:off x="3529584" y="1389888"/>
            <a:ext cx="2249424" cy="237744"/>
          </a:xfrm>
          <a:prstGeom prst="rect">
            <a:avLst/>
          </a:prstGeom>
          <a:noFill/>
          <a:ln/>
        </p:spPr>
        <p:txBody>
          <a:bodyPr wrap="square" lIns="0" tIns="0" rIns="0" bIns="0" rtlCol="0" anchor="ctr"/>
          <a:lstStyle/>
          <a:p>
            <a:pPr indent="0" marL="0">
              <a:buNone/>
            </a:pPr>
            <a:r>
              <a:rPr lang="en-US" sz="1100" dirty="0">
                <a:solidFill>
                  <a:srgbClr val="8496B4"/>
                </a:solidFill>
                <a:latin typeface="Calibri" pitchFamily="34" charset="0"/>
                <a:ea typeface="Calibri" pitchFamily="34" charset="-122"/>
                <a:cs typeface="Calibri" pitchFamily="34" charset="-120"/>
              </a:rPr>
              <a:t>D2 When it happens</a:t>
            </a:r>
            <a:endParaRPr lang="en-US" sz="1100" dirty="0"/>
          </a:p>
        </p:txBody>
      </p:sp>
      <p:sp>
        <p:nvSpPr>
          <p:cNvPr id="10" name="Text 8"/>
          <p:cNvSpPr/>
          <p:nvPr/>
        </p:nvSpPr>
        <p:spPr>
          <a:xfrm>
            <a:off x="3529584" y="1682496"/>
            <a:ext cx="2249424" cy="512064"/>
          </a:xfrm>
          <a:prstGeom prst="rect">
            <a:avLst/>
          </a:prstGeom>
          <a:noFill/>
          <a:ln/>
        </p:spPr>
        <p:txBody>
          <a:bodyPr wrap="square" lIns="0" tIns="0" rIns="0" bIns="0" rtlCol="0" anchor="ctr"/>
          <a:lstStyle/>
          <a:p>
            <a:pPr indent="0" marL="0">
              <a:buNone/>
            </a:pPr>
            <a:r>
              <a:rPr lang="en-US" sz="3000" b="1" dirty="0">
                <a:solidFill>
                  <a:srgbClr val="F2A63B"/>
                </a:solidFill>
                <a:latin typeface="Cambria" pitchFamily="34" charset="0"/>
                <a:ea typeface="Cambria" pitchFamily="34" charset="-122"/>
                <a:cs typeface="Cambria" pitchFamily="34" charset="-120"/>
              </a:rPr>
              <a:t>16.1</a:t>
            </a:r>
            <a:pPr indent="0" marL="0">
              <a:buNone/>
            </a:pPr>
            <a:r>
              <a:rPr lang="en-US" sz="1300" dirty="0">
                <a:solidFill>
                  <a:srgbClr val="8496B4"/>
                </a:solidFill>
                <a:latin typeface="Cambria" pitchFamily="34" charset="0"/>
                <a:ea typeface="Cambria" pitchFamily="34" charset="-122"/>
                <a:cs typeface="Cambria" pitchFamily="34" charset="-120"/>
              </a:rPr>
              <a:t>  / 35</a:t>
            </a:r>
            <a:endParaRPr lang="en-US" sz="3000" dirty="0"/>
          </a:p>
        </p:txBody>
      </p:sp>
      <p:sp>
        <p:nvSpPr>
          <p:cNvPr id="11" name="Text 9"/>
          <p:cNvSpPr/>
          <p:nvPr/>
        </p:nvSpPr>
        <p:spPr>
          <a:xfrm>
            <a:off x="3529584" y="2231136"/>
            <a:ext cx="2249424" cy="237744"/>
          </a:xfrm>
          <a:prstGeom prst="rect">
            <a:avLst/>
          </a:prstGeom>
          <a:noFill/>
          <a:ln/>
        </p:spPr>
        <p:txBody>
          <a:bodyPr wrap="square" lIns="0" tIns="0" rIns="0" bIns="0" rtlCol="0" anchor="ctr"/>
          <a:lstStyle/>
          <a:p>
            <a:pPr indent="0" marL="0">
              <a:buNone/>
            </a:pPr>
            <a:r>
              <a:rPr lang="en-US" sz="1000" dirty="0">
                <a:solidFill>
                  <a:srgbClr val="5FCB8E"/>
                </a:solidFill>
                <a:latin typeface="Calibri" pitchFamily="34" charset="0"/>
                <a:ea typeface="Calibri" pitchFamily="34" charset="-122"/>
                <a:cs typeface="Calibri" pitchFamily="34" charset="-120"/>
              </a:rPr>
              <a:t>projected  24.6</a:t>
            </a:r>
            <a:endParaRPr lang="en-US" sz="1000" dirty="0"/>
          </a:p>
        </p:txBody>
      </p:sp>
      <p:sp>
        <p:nvSpPr>
          <p:cNvPr id="12" name="Shape 10"/>
          <p:cNvSpPr/>
          <p:nvPr/>
        </p:nvSpPr>
        <p:spPr>
          <a:xfrm>
            <a:off x="6227064" y="1280160"/>
            <a:ext cx="2578608" cy="1298448"/>
          </a:xfrm>
          <a:prstGeom prst="roundRect">
            <a:avLst>
              <a:gd name="adj" fmla="val 4225"/>
            </a:avLst>
          </a:prstGeom>
          <a:solidFill>
            <a:srgbClr val="222E44"/>
          </a:solidFill>
          <a:ln w="12700">
            <a:solidFill>
              <a:srgbClr val="222E44"/>
            </a:solidFill>
            <a:prstDash val="solid"/>
          </a:ln>
        </p:spPr>
      </p:sp>
      <p:sp>
        <p:nvSpPr>
          <p:cNvPr id="13" name="Text 11"/>
          <p:cNvSpPr/>
          <p:nvPr/>
        </p:nvSpPr>
        <p:spPr>
          <a:xfrm>
            <a:off x="6391656" y="1389888"/>
            <a:ext cx="2249424" cy="237744"/>
          </a:xfrm>
          <a:prstGeom prst="rect">
            <a:avLst/>
          </a:prstGeom>
          <a:noFill/>
          <a:ln/>
        </p:spPr>
        <p:txBody>
          <a:bodyPr wrap="square" lIns="0" tIns="0" rIns="0" bIns="0" rtlCol="0" anchor="ctr"/>
          <a:lstStyle/>
          <a:p>
            <a:pPr indent="0" marL="0">
              <a:buNone/>
            </a:pPr>
            <a:r>
              <a:rPr lang="en-US" sz="1100" dirty="0">
                <a:solidFill>
                  <a:srgbClr val="8496B4"/>
                </a:solidFill>
                <a:latin typeface="Calibri" pitchFamily="34" charset="0"/>
                <a:ea typeface="Calibri" pitchFamily="34" charset="-122"/>
                <a:cs typeface="Calibri" pitchFamily="34" charset="-120"/>
              </a:rPr>
              <a:t>D3 Long context</a:t>
            </a:r>
            <a:endParaRPr lang="en-US" sz="1100" dirty="0"/>
          </a:p>
        </p:txBody>
      </p:sp>
      <p:sp>
        <p:nvSpPr>
          <p:cNvPr id="14" name="Text 12"/>
          <p:cNvSpPr/>
          <p:nvPr/>
        </p:nvSpPr>
        <p:spPr>
          <a:xfrm>
            <a:off x="6391656" y="1682496"/>
            <a:ext cx="2249424" cy="512064"/>
          </a:xfrm>
          <a:prstGeom prst="rect">
            <a:avLst/>
          </a:prstGeom>
          <a:noFill/>
          <a:ln/>
        </p:spPr>
        <p:txBody>
          <a:bodyPr wrap="square" lIns="0" tIns="0" rIns="0" bIns="0" rtlCol="0" anchor="ctr"/>
          <a:lstStyle/>
          <a:p>
            <a:pPr indent="0" marL="0">
              <a:buNone/>
            </a:pPr>
            <a:r>
              <a:rPr lang="en-US" sz="3000" b="1" dirty="0">
                <a:solidFill>
                  <a:srgbClr val="F2A63B"/>
                </a:solidFill>
                <a:latin typeface="Cambria" pitchFamily="34" charset="0"/>
                <a:ea typeface="Cambria" pitchFamily="34" charset="-122"/>
                <a:cs typeface="Cambria" pitchFamily="34" charset="-120"/>
              </a:rPr>
              <a:t>16.7</a:t>
            </a:r>
            <a:pPr indent="0" marL="0">
              <a:buNone/>
            </a:pPr>
            <a:r>
              <a:rPr lang="en-US" sz="1300" dirty="0">
                <a:solidFill>
                  <a:srgbClr val="8496B4"/>
                </a:solidFill>
                <a:latin typeface="Cambria" pitchFamily="34" charset="0"/>
                <a:ea typeface="Cambria" pitchFamily="34" charset="-122"/>
                <a:cs typeface="Cambria" pitchFamily="34" charset="-120"/>
              </a:rPr>
              <a:t>  / 40</a:t>
            </a:r>
            <a:endParaRPr lang="en-US" sz="3000" dirty="0"/>
          </a:p>
        </p:txBody>
      </p:sp>
      <p:sp>
        <p:nvSpPr>
          <p:cNvPr id="15" name="Text 13"/>
          <p:cNvSpPr/>
          <p:nvPr/>
        </p:nvSpPr>
        <p:spPr>
          <a:xfrm>
            <a:off x="6391656" y="2231136"/>
            <a:ext cx="2249424" cy="237744"/>
          </a:xfrm>
          <a:prstGeom prst="rect">
            <a:avLst/>
          </a:prstGeom>
          <a:noFill/>
          <a:ln/>
        </p:spPr>
        <p:txBody>
          <a:bodyPr wrap="square" lIns="0" tIns="0" rIns="0" bIns="0" rtlCol="0" anchor="ctr"/>
          <a:lstStyle/>
          <a:p>
            <a:pPr indent="0" marL="0">
              <a:buNone/>
            </a:pPr>
            <a:r>
              <a:rPr lang="en-US" sz="1000" dirty="0">
                <a:solidFill>
                  <a:srgbClr val="5FCB8E"/>
                </a:solidFill>
                <a:latin typeface="Calibri" pitchFamily="34" charset="0"/>
                <a:ea typeface="Calibri" pitchFamily="34" charset="-122"/>
                <a:cs typeface="Calibri" pitchFamily="34" charset="-120"/>
              </a:rPr>
              <a:t>projected  23.3</a:t>
            </a:r>
            <a:endParaRPr lang="en-US" sz="1000" dirty="0"/>
          </a:p>
        </p:txBody>
      </p:sp>
      <p:sp>
        <p:nvSpPr>
          <p:cNvPr id="16" name="Shape 14"/>
          <p:cNvSpPr/>
          <p:nvPr/>
        </p:nvSpPr>
        <p:spPr>
          <a:xfrm>
            <a:off x="9089136" y="1280160"/>
            <a:ext cx="2569464" cy="1298448"/>
          </a:xfrm>
          <a:prstGeom prst="roundRect">
            <a:avLst>
              <a:gd name="adj" fmla="val 4225"/>
            </a:avLst>
          </a:prstGeom>
          <a:solidFill>
            <a:srgbClr val="222E44"/>
          </a:solidFill>
          <a:ln w="12700">
            <a:solidFill>
              <a:srgbClr val="222E44"/>
            </a:solidFill>
            <a:prstDash val="solid"/>
          </a:ln>
        </p:spPr>
      </p:sp>
      <p:sp>
        <p:nvSpPr>
          <p:cNvPr id="17" name="Text 15"/>
          <p:cNvSpPr/>
          <p:nvPr/>
        </p:nvSpPr>
        <p:spPr>
          <a:xfrm>
            <a:off x="9253728" y="1389888"/>
            <a:ext cx="2240280" cy="237744"/>
          </a:xfrm>
          <a:prstGeom prst="rect">
            <a:avLst/>
          </a:prstGeom>
          <a:noFill/>
          <a:ln/>
        </p:spPr>
        <p:txBody>
          <a:bodyPr wrap="square" lIns="0" tIns="0" rIns="0" bIns="0" rtlCol="0" anchor="ctr"/>
          <a:lstStyle/>
          <a:p>
            <a:pPr indent="0" marL="0">
              <a:buNone/>
            </a:pPr>
            <a:r>
              <a:rPr lang="en-US" sz="1100" dirty="0">
                <a:solidFill>
                  <a:srgbClr val="8496B4"/>
                </a:solidFill>
                <a:latin typeface="Calibri" pitchFamily="34" charset="0"/>
                <a:ea typeface="Calibri" pitchFamily="34" charset="-122"/>
                <a:cs typeface="Calibri" pitchFamily="34" charset="-120"/>
              </a:rPr>
              <a:t>TOTAL</a:t>
            </a:r>
            <a:endParaRPr lang="en-US" sz="1100" dirty="0"/>
          </a:p>
        </p:txBody>
      </p:sp>
      <p:sp>
        <p:nvSpPr>
          <p:cNvPr id="18" name="Text 16"/>
          <p:cNvSpPr/>
          <p:nvPr/>
        </p:nvSpPr>
        <p:spPr>
          <a:xfrm>
            <a:off x="9253728" y="1682496"/>
            <a:ext cx="2240280" cy="512064"/>
          </a:xfrm>
          <a:prstGeom prst="rect">
            <a:avLst/>
          </a:prstGeom>
          <a:noFill/>
          <a:ln/>
        </p:spPr>
        <p:txBody>
          <a:bodyPr wrap="square" lIns="0" tIns="0" rIns="0" bIns="0" rtlCol="0" anchor="ctr"/>
          <a:lstStyle/>
          <a:p>
            <a:pPr indent="0" marL="0">
              <a:buNone/>
            </a:pPr>
            <a:r>
              <a:rPr lang="en-US" sz="3000" b="1" dirty="0">
                <a:solidFill>
                  <a:srgbClr val="F2A63B"/>
                </a:solidFill>
                <a:latin typeface="Cambria" pitchFamily="34" charset="0"/>
                <a:ea typeface="Cambria" pitchFamily="34" charset="-122"/>
                <a:cs typeface="Cambria" pitchFamily="34" charset="-120"/>
              </a:rPr>
              <a:t>46.2</a:t>
            </a:r>
            <a:pPr indent="0" marL="0">
              <a:buNone/>
            </a:pPr>
            <a:r>
              <a:rPr lang="en-US" sz="1300" dirty="0">
                <a:solidFill>
                  <a:srgbClr val="8496B4"/>
                </a:solidFill>
                <a:latin typeface="Cambria" pitchFamily="34" charset="0"/>
                <a:ea typeface="Cambria" pitchFamily="34" charset="-122"/>
                <a:cs typeface="Cambria" pitchFamily="34" charset="-120"/>
              </a:rPr>
              <a:t>  / 100</a:t>
            </a:r>
            <a:endParaRPr lang="en-US" sz="3000" dirty="0"/>
          </a:p>
        </p:txBody>
      </p:sp>
      <p:sp>
        <p:nvSpPr>
          <p:cNvPr id="19" name="Text 17"/>
          <p:cNvSpPr/>
          <p:nvPr/>
        </p:nvSpPr>
        <p:spPr>
          <a:xfrm>
            <a:off x="9253728" y="2231136"/>
            <a:ext cx="2240280" cy="237744"/>
          </a:xfrm>
          <a:prstGeom prst="rect">
            <a:avLst/>
          </a:prstGeom>
          <a:noFill/>
          <a:ln/>
        </p:spPr>
        <p:txBody>
          <a:bodyPr wrap="square" lIns="0" tIns="0" rIns="0" bIns="0" rtlCol="0" anchor="ctr"/>
          <a:lstStyle/>
          <a:p>
            <a:pPr indent="0" marL="0">
              <a:buNone/>
            </a:pPr>
            <a:r>
              <a:rPr lang="en-US" sz="1000" dirty="0">
                <a:solidFill>
                  <a:srgbClr val="5FCB8E"/>
                </a:solidFill>
                <a:latin typeface="Calibri" pitchFamily="34" charset="0"/>
                <a:ea typeface="Calibri" pitchFamily="34" charset="-122"/>
                <a:cs typeface="Calibri" pitchFamily="34" charset="-120"/>
              </a:rPr>
              <a:t>projected  62.0</a:t>
            </a:r>
            <a:endParaRPr lang="en-US" sz="1000" dirty="0"/>
          </a:p>
        </p:txBody>
      </p:sp>
      <p:sp>
        <p:nvSpPr>
          <p:cNvPr id="20" name="Shape 18"/>
          <p:cNvSpPr/>
          <p:nvPr/>
        </p:nvSpPr>
        <p:spPr>
          <a:xfrm>
            <a:off x="502920" y="2798064"/>
            <a:ext cx="5577840" cy="2670048"/>
          </a:xfrm>
          <a:prstGeom prst="roundRect">
            <a:avLst>
              <a:gd name="adj" fmla="val 2055"/>
            </a:avLst>
          </a:prstGeom>
          <a:solidFill>
            <a:srgbClr val="1B2436"/>
          </a:solidFill>
          <a:ln w="12700">
            <a:solidFill>
              <a:srgbClr val="1B2436"/>
            </a:solidFill>
            <a:prstDash val="solid"/>
          </a:ln>
        </p:spPr>
      </p:sp>
      <p:sp>
        <p:nvSpPr>
          <p:cNvPr id="21" name="Text 19"/>
          <p:cNvSpPr/>
          <p:nvPr/>
        </p:nvSpPr>
        <p:spPr>
          <a:xfrm>
            <a:off x="685800" y="2926080"/>
            <a:ext cx="5212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actually moved the score</a:t>
            </a:r>
            <a:endParaRPr lang="en-US" sz="1300" dirty="0"/>
          </a:p>
        </p:txBody>
      </p:sp>
      <p:sp>
        <p:nvSpPr>
          <p:cNvPr id="22" name="Text 20"/>
          <p:cNvSpPr/>
          <p:nvPr/>
        </p:nvSpPr>
        <p:spPr>
          <a:xfrm>
            <a:off x="685800" y="3310128"/>
            <a:ext cx="379476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Collection-fingerprint class prior</a:t>
            </a:r>
            <a:endParaRPr lang="en-US" sz="1050" dirty="0"/>
          </a:p>
        </p:txBody>
      </p:sp>
      <p:sp>
        <p:nvSpPr>
          <p:cNvPr id="23" name="Text 21"/>
          <p:cNvSpPr/>
          <p:nvPr/>
        </p:nvSpPr>
        <p:spPr>
          <a:xfrm>
            <a:off x="4526280" y="3310128"/>
            <a:ext cx="1389888" cy="292608"/>
          </a:xfrm>
          <a:prstGeom prst="rect">
            <a:avLst/>
          </a:prstGeom>
          <a:noFill/>
          <a:ln/>
        </p:spPr>
        <p:txBody>
          <a:bodyPr wrap="square" lIns="0" tIns="0" rIns="0" bIns="0" rtlCol="0" anchor="ctr"/>
          <a:lstStyle/>
          <a:p>
            <a:pPr algn="r" indent="0" marL="0">
              <a:buNone/>
            </a:pPr>
            <a:r>
              <a:rPr lang="en-US" sz="1100" b="1" dirty="0">
                <a:solidFill>
                  <a:srgbClr val="5FCB8E"/>
                </a:solidFill>
                <a:latin typeface="Calibri" pitchFamily="34" charset="0"/>
                <a:ea typeface="Calibri" pitchFamily="34" charset="-122"/>
                <a:cs typeface="Calibri" pitchFamily="34" charset="-120"/>
              </a:rPr>
              <a:t>37.2 → 46.2</a:t>
            </a:r>
            <a:endParaRPr lang="en-US" sz="1100" dirty="0"/>
          </a:p>
        </p:txBody>
      </p:sp>
      <p:sp>
        <p:nvSpPr>
          <p:cNvPr id="24" name="Text 22"/>
          <p:cNvSpPr/>
          <p:nvPr/>
        </p:nvSpPr>
        <p:spPr>
          <a:xfrm>
            <a:off x="685800" y="3666744"/>
            <a:ext cx="379476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Candidates on the 5 s composition lattice</a:t>
            </a:r>
            <a:endParaRPr lang="en-US" sz="1050" dirty="0"/>
          </a:p>
        </p:txBody>
      </p:sp>
      <p:sp>
        <p:nvSpPr>
          <p:cNvPr id="25" name="Text 23"/>
          <p:cNvSpPr/>
          <p:nvPr/>
        </p:nvSpPr>
        <p:spPr>
          <a:xfrm>
            <a:off x="4526280" y="3666744"/>
            <a:ext cx="1389888" cy="292608"/>
          </a:xfrm>
          <a:prstGeom prst="rect">
            <a:avLst/>
          </a:prstGeom>
          <a:noFill/>
          <a:ln/>
        </p:spPr>
        <p:txBody>
          <a:bodyPr wrap="square" lIns="0" tIns="0" rIns="0" bIns="0" rtlCol="0" anchor="ctr"/>
          <a:lstStyle/>
          <a:p>
            <a:pPr algn="r" indent="0" marL="0">
              <a:buNone/>
            </a:pPr>
            <a:r>
              <a:rPr lang="en-US" sz="1100" b="1" dirty="0">
                <a:solidFill>
                  <a:srgbClr val="5FCB8E"/>
                </a:solidFill>
                <a:latin typeface="Calibri" pitchFamily="34" charset="0"/>
                <a:ea typeface="Calibri" pitchFamily="34" charset="-122"/>
                <a:cs typeface="Calibri" pitchFamily="34" charset="-120"/>
              </a:rPr>
              <a:t>+8.5 proj.</a:t>
            </a:r>
            <a:endParaRPr lang="en-US" sz="1100" dirty="0"/>
          </a:p>
        </p:txBody>
      </p:sp>
      <p:sp>
        <p:nvSpPr>
          <p:cNvPr id="26" name="Text 24"/>
          <p:cNvSpPr/>
          <p:nvPr/>
        </p:nvSpPr>
        <p:spPr>
          <a:xfrm>
            <a:off x="685800" y="4023360"/>
            <a:ext cx="379476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Level 1 cut at the F1 break-even p &gt; F1/2</a:t>
            </a:r>
            <a:endParaRPr lang="en-US" sz="1050" dirty="0"/>
          </a:p>
        </p:txBody>
      </p:sp>
      <p:sp>
        <p:nvSpPr>
          <p:cNvPr id="27" name="Text 25"/>
          <p:cNvSpPr/>
          <p:nvPr/>
        </p:nvSpPr>
        <p:spPr>
          <a:xfrm>
            <a:off x="4526280" y="4023360"/>
            <a:ext cx="1389888" cy="292608"/>
          </a:xfrm>
          <a:prstGeom prst="rect">
            <a:avLst/>
          </a:prstGeom>
          <a:noFill/>
          <a:ln/>
        </p:spPr>
        <p:txBody>
          <a:bodyPr wrap="square" lIns="0" tIns="0" rIns="0" bIns="0" rtlCol="0" anchor="ctr"/>
          <a:lstStyle/>
          <a:p>
            <a:pPr algn="r" indent="0" marL="0">
              <a:buNone/>
            </a:pPr>
            <a:r>
              <a:rPr lang="en-US" sz="1100" b="1" dirty="0">
                <a:solidFill>
                  <a:srgbClr val="5FCB8E"/>
                </a:solidFill>
                <a:latin typeface="Calibri" pitchFamily="34" charset="0"/>
                <a:ea typeface="Calibri" pitchFamily="34" charset="-122"/>
                <a:cs typeface="Calibri" pitchFamily="34" charset="-120"/>
              </a:rPr>
              <a:t>+4.7 proj.</a:t>
            </a:r>
            <a:endParaRPr lang="en-US" sz="1100" dirty="0"/>
          </a:p>
        </p:txBody>
      </p:sp>
      <p:sp>
        <p:nvSpPr>
          <p:cNvPr id="28" name="Text 26"/>
          <p:cNvSpPr/>
          <p:nvPr/>
        </p:nvSpPr>
        <p:spPr>
          <a:xfrm>
            <a:off x="685800" y="4379976"/>
            <a:ext cx="379476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Raising the Level-1 threshold to 0.7</a:t>
            </a:r>
            <a:endParaRPr lang="en-US" sz="1050" dirty="0"/>
          </a:p>
        </p:txBody>
      </p:sp>
      <p:sp>
        <p:nvSpPr>
          <p:cNvPr id="29" name="Text 27"/>
          <p:cNvSpPr/>
          <p:nvPr/>
        </p:nvSpPr>
        <p:spPr>
          <a:xfrm>
            <a:off x="4526280" y="4379976"/>
            <a:ext cx="1389888" cy="292608"/>
          </a:xfrm>
          <a:prstGeom prst="rect">
            <a:avLst/>
          </a:prstGeom>
          <a:noFill/>
          <a:ln/>
        </p:spPr>
        <p:txBody>
          <a:bodyPr wrap="square" lIns="0" tIns="0" rIns="0" bIns="0" rtlCol="0" anchor="ctr"/>
          <a:lstStyle/>
          <a:p>
            <a:pPr algn="r" indent="0" marL="0">
              <a:buNone/>
            </a:pPr>
            <a:r>
              <a:rPr lang="en-US" sz="1100" b="1" dirty="0">
                <a:solidFill>
                  <a:srgbClr val="E2685F"/>
                </a:solidFill>
                <a:latin typeface="Calibri" pitchFamily="34" charset="0"/>
                <a:ea typeface="Calibri" pitchFamily="34" charset="-122"/>
                <a:cs typeface="Calibri" pitchFamily="34" charset="-120"/>
              </a:rPr>
              <a:t>−2.0</a:t>
            </a:r>
            <a:endParaRPr lang="en-US" sz="1100" dirty="0"/>
          </a:p>
        </p:txBody>
      </p:sp>
      <p:sp>
        <p:nvSpPr>
          <p:cNvPr id="30" name="Text 28"/>
          <p:cNvSpPr/>
          <p:nvPr/>
        </p:nvSpPr>
        <p:spPr>
          <a:xfrm>
            <a:off x="685800" y="4736592"/>
            <a:ext cx="379476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Stage B VLM — Qwen3-VL 2B and 4B zero-shot</a:t>
            </a:r>
            <a:endParaRPr lang="en-US" sz="1050" dirty="0"/>
          </a:p>
        </p:txBody>
      </p:sp>
      <p:sp>
        <p:nvSpPr>
          <p:cNvPr id="31" name="Text 29"/>
          <p:cNvSpPr/>
          <p:nvPr/>
        </p:nvSpPr>
        <p:spPr>
          <a:xfrm>
            <a:off x="4526280" y="4736592"/>
            <a:ext cx="1389888" cy="292608"/>
          </a:xfrm>
          <a:prstGeom prst="rect">
            <a:avLst/>
          </a:prstGeom>
          <a:noFill/>
          <a:ln/>
        </p:spPr>
        <p:txBody>
          <a:bodyPr wrap="square" lIns="0" tIns="0" rIns="0" bIns="0" rtlCol="0" anchor="ctr"/>
          <a:lstStyle/>
          <a:p>
            <a:pPr algn="r" indent="0" marL="0">
              <a:buNone/>
            </a:pPr>
            <a:r>
              <a:rPr lang="en-US" sz="1100" b="1" dirty="0">
                <a:solidFill>
                  <a:srgbClr val="E2685F"/>
                </a:solidFill>
                <a:latin typeface="Calibri" pitchFamily="34" charset="0"/>
                <a:ea typeface="Calibri" pitchFamily="34" charset="-122"/>
                <a:cs typeface="Calibri" pitchFamily="34" charset="-120"/>
              </a:rPr>
              <a:t>−3.7</a:t>
            </a:r>
            <a:endParaRPr lang="en-US" sz="1100" dirty="0"/>
          </a:p>
        </p:txBody>
      </p:sp>
      <p:sp>
        <p:nvSpPr>
          <p:cNvPr id="32" name="Text 30"/>
          <p:cNvSpPr/>
          <p:nvPr/>
        </p:nvSpPr>
        <p:spPr>
          <a:xfrm>
            <a:off x="685800" y="5093208"/>
            <a:ext cx="379476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12 replacement rankers on Level 3</a:t>
            </a:r>
            <a:endParaRPr lang="en-US" sz="1050" dirty="0"/>
          </a:p>
        </p:txBody>
      </p:sp>
      <p:sp>
        <p:nvSpPr>
          <p:cNvPr id="33" name="Text 31"/>
          <p:cNvSpPr/>
          <p:nvPr/>
        </p:nvSpPr>
        <p:spPr>
          <a:xfrm>
            <a:off x="4526280" y="5093208"/>
            <a:ext cx="1389888" cy="292608"/>
          </a:xfrm>
          <a:prstGeom prst="rect">
            <a:avLst/>
          </a:prstGeom>
          <a:noFill/>
          <a:ln/>
        </p:spPr>
        <p:txBody>
          <a:bodyPr wrap="square" lIns="0" tIns="0" rIns="0" bIns="0" rtlCol="0" anchor="ctr"/>
          <a:lstStyle/>
          <a:p>
            <a:pPr algn="r" indent="0" marL="0">
              <a:buNone/>
            </a:pPr>
            <a:r>
              <a:rPr lang="en-US" sz="1100" b="1" dirty="0">
                <a:solidFill>
                  <a:srgbClr val="E2685F"/>
                </a:solidFill>
                <a:latin typeface="Calibri" pitchFamily="34" charset="0"/>
                <a:ea typeface="Calibri" pitchFamily="34" charset="-122"/>
                <a:cs typeface="Calibri" pitchFamily="34" charset="-120"/>
              </a:rPr>
              <a:t>0 of 12</a:t>
            </a:r>
            <a:endParaRPr lang="en-US" sz="1100" dirty="0"/>
          </a:p>
        </p:txBody>
      </p:sp>
      <p:sp>
        <p:nvSpPr>
          <p:cNvPr id="34" name="Shape 32"/>
          <p:cNvSpPr/>
          <p:nvPr/>
        </p:nvSpPr>
        <p:spPr>
          <a:xfrm>
            <a:off x="6355080" y="2798064"/>
            <a:ext cx="5303520" cy="2670048"/>
          </a:xfrm>
          <a:prstGeom prst="roundRect">
            <a:avLst>
              <a:gd name="adj" fmla="val 2055"/>
            </a:avLst>
          </a:prstGeom>
          <a:solidFill>
            <a:srgbClr val="1B2436"/>
          </a:solidFill>
          <a:ln w="12700">
            <a:solidFill>
              <a:srgbClr val="1B2436"/>
            </a:solidFill>
            <a:prstDash val="solid"/>
          </a:ln>
        </p:spPr>
      </p:sp>
      <p:sp>
        <p:nvSpPr>
          <p:cNvPr id="35" name="Text 33"/>
          <p:cNvSpPr/>
          <p:nvPr/>
        </p:nvSpPr>
        <p:spPr>
          <a:xfrm>
            <a:off x="6537960" y="2926080"/>
            <a:ext cx="4937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Three things we learned</a:t>
            </a:r>
            <a:endParaRPr lang="en-US" sz="1300" dirty="0"/>
          </a:p>
        </p:txBody>
      </p:sp>
      <p:sp>
        <p:nvSpPr>
          <p:cNvPr id="36" name="Text 34"/>
          <p:cNvSpPr/>
          <p:nvPr/>
        </p:nvSpPr>
        <p:spPr>
          <a:xfrm>
            <a:off x="6537960" y="3291840"/>
            <a:ext cx="4937760" cy="219456"/>
          </a:xfrm>
          <a:prstGeom prst="rect">
            <a:avLst/>
          </a:prstGeom>
          <a:noFill/>
          <a:ln/>
        </p:spPr>
        <p:txBody>
          <a:bodyPr wrap="square" lIns="0" tIns="0" rIns="0" bIns="0" rtlCol="0" anchor="ctr"/>
          <a:lstStyle/>
          <a:p>
            <a:pPr indent="0" marL="0">
              <a:buNone/>
            </a:pPr>
            <a:r>
              <a:rPr lang="en-US" sz="1100" b="1" dirty="0">
                <a:solidFill>
                  <a:srgbClr val="F2A63B"/>
                </a:solidFill>
                <a:latin typeface="Calibri" pitchFamily="34" charset="0"/>
                <a:ea typeface="Calibri" pitchFamily="34" charset="-122"/>
                <a:cs typeface="Calibri" pitchFamily="34" charset="-120"/>
              </a:rPr>
              <a:t>The encoding profile leaks the class.</a:t>
            </a:r>
            <a:endParaRPr lang="en-US" sz="1100" dirty="0"/>
          </a:p>
        </p:txBody>
      </p:sp>
      <p:sp>
        <p:nvSpPr>
          <p:cNvPr id="37" name="Text 35"/>
          <p:cNvSpPr/>
          <p:nvPr/>
        </p:nvSpPr>
        <p:spPr>
          <a:xfrm>
            <a:off x="6537960" y="3511296"/>
            <a:ext cx="4937760" cy="493776"/>
          </a:xfrm>
          <a:prstGeom prst="rect">
            <a:avLst/>
          </a:prstGeom>
          <a:noFill/>
          <a:ln/>
        </p:spPr>
        <p:txBody>
          <a:bodyPr wrap="square" lIns="0" tIns="0" rIns="0" bIns="0" rtlCol="0" anchor="ctr"/>
          <a:lstStyle/>
          <a:p>
            <a:pPr indent="0" marL="0">
              <a:lnSpc>
                <a:spcPct val="108000"/>
              </a:lnSpc>
              <a:buNone/>
            </a:pPr>
            <a:r>
              <a:rPr lang="en-US" sz="850" dirty="0">
                <a:solidFill>
                  <a:srgbClr val="CADCFC"/>
                </a:solidFill>
                <a:latin typeface="Calibri" pitchFamily="34" charset="0"/>
                <a:ea typeface="Calibri" pitchFamily="34" charset="-122"/>
                <a:cs typeface="Calibri" pitchFamily="34" charset="-120"/>
              </a:rPr>
              <a:t>(width, height, fps) identifies the source collection, and the public ground truth says what each contains. It predicts E024 is normal, which upload deltas had already proved independently, and it showed the L2 collection is composed on a 5 s grid — T025 is six events at 20+40i.</a:t>
            </a:r>
            <a:endParaRPr lang="en-US" sz="850" dirty="0"/>
          </a:p>
        </p:txBody>
      </p:sp>
      <p:sp>
        <p:nvSpPr>
          <p:cNvPr id="38" name="Text 36"/>
          <p:cNvSpPr/>
          <p:nvPr/>
        </p:nvSpPr>
        <p:spPr>
          <a:xfrm>
            <a:off x="6537960" y="4032504"/>
            <a:ext cx="4937760" cy="219456"/>
          </a:xfrm>
          <a:prstGeom prst="rect">
            <a:avLst/>
          </a:prstGeom>
          <a:noFill/>
          <a:ln/>
        </p:spPr>
        <p:txBody>
          <a:bodyPr wrap="square" lIns="0" tIns="0" rIns="0" bIns="0" rtlCol="0" anchor="ctr"/>
          <a:lstStyle/>
          <a:p>
            <a:pPr indent="0" marL="0">
              <a:buNone/>
            </a:pPr>
            <a:r>
              <a:rPr lang="en-US" sz="1100" b="1" dirty="0">
                <a:solidFill>
                  <a:srgbClr val="F2A63B"/>
                </a:solidFill>
                <a:latin typeface="Calibri" pitchFamily="34" charset="0"/>
                <a:ea typeface="Calibri" pitchFamily="34" charset="-122"/>
                <a:cs typeface="Calibri" pitchFamily="34" charset="-120"/>
              </a:rPr>
              <a:t>Proposals are solved; ranking is not.</a:t>
            </a:r>
            <a:endParaRPr lang="en-US" sz="1100" dirty="0"/>
          </a:p>
        </p:txBody>
      </p:sp>
      <p:sp>
        <p:nvSpPr>
          <p:cNvPr id="39" name="Text 37"/>
          <p:cNvSpPr/>
          <p:nvPr/>
        </p:nvSpPr>
        <p:spPr>
          <a:xfrm>
            <a:off x="6537960" y="4251960"/>
            <a:ext cx="4937760" cy="493776"/>
          </a:xfrm>
          <a:prstGeom prst="rect">
            <a:avLst/>
          </a:prstGeom>
          <a:noFill/>
          <a:ln/>
        </p:spPr>
        <p:txBody>
          <a:bodyPr wrap="square" lIns="0" tIns="0" rIns="0" bIns="0" rtlCol="0" anchor="ctr"/>
          <a:lstStyle/>
          <a:p>
            <a:pPr indent="0" marL="0">
              <a:lnSpc>
                <a:spcPct val="108000"/>
              </a:lnSpc>
              <a:buNone/>
            </a:pPr>
            <a:r>
              <a:rPr lang="en-US" sz="850" dirty="0">
                <a:solidFill>
                  <a:srgbClr val="CADCFC"/>
                </a:solidFill>
                <a:latin typeface="Calibri" pitchFamily="34" charset="0"/>
                <a:ea typeface="Calibri" pitchFamily="34" charset="-122"/>
                <a:cs typeface="Calibri" pitchFamily="34" charset="-120"/>
              </a:rPr>
              <a:t>A 2.5 s lattice covers 100% of public truths at IoU 0.5. But the head’s anomaly curve is saturated at exactly 1.0000, zero variance, on three private videos, and twelve replacement scores all reach 0% recall@128 on Level 3.</a:t>
            </a:r>
            <a:endParaRPr lang="en-US" sz="850" dirty="0"/>
          </a:p>
        </p:txBody>
      </p:sp>
      <p:sp>
        <p:nvSpPr>
          <p:cNvPr id="40" name="Text 38"/>
          <p:cNvSpPr/>
          <p:nvPr/>
        </p:nvSpPr>
        <p:spPr>
          <a:xfrm>
            <a:off x="6537960" y="4773168"/>
            <a:ext cx="4937760" cy="219456"/>
          </a:xfrm>
          <a:prstGeom prst="rect">
            <a:avLst/>
          </a:prstGeom>
          <a:noFill/>
          <a:ln/>
        </p:spPr>
        <p:txBody>
          <a:bodyPr wrap="square" lIns="0" tIns="0" rIns="0" bIns="0" rtlCol="0" anchor="ctr"/>
          <a:lstStyle/>
          <a:p>
            <a:pPr indent="0" marL="0">
              <a:buNone/>
            </a:pPr>
            <a:r>
              <a:rPr lang="en-US" sz="1100" b="1" dirty="0">
                <a:solidFill>
                  <a:srgbClr val="F2A63B"/>
                </a:solidFill>
                <a:latin typeface="Calibri" pitchFamily="34" charset="0"/>
                <a:ea typeface="Calibri" pitchFamily="34" charset="-122"/>
                <a:cs typeface="Calibri" pitchFamily="34" charset="-120"/>
              </a:rPr>
              <a:t>The leaderboard is a measuring instrument.</a:t>
            </a:r>
            <a:endParaRPr lang="en-US" sz="1100" dirty="0"/>
          </a:p>
        </p:txBody>
      </p:sp>
      <p:sp>
        <p:nvSpPr>
          <p:cNvPr id="41" name="Text 39"/>
          <p:cNvSpPr/>
          <p:nvPr/>
        </p:nvSpPr>
        <p:spPr>
          <a:xfrm>
            <a:off x="6537960" y="4992624"/>
            <a:ext cx="4937760" cy="493776"/>
          </a:xfrm>
          <a:prstGeom prst="rect">
            <a:avLst/>
          </a:prstGeom>
          <a:noFill/>
          <a:ln/>
        </p:spPr>
        <p:txBody>
          <a:bodyPr wrap="square" lIns="0" tIns="0" rIns="0" bIns="0" rtlCol="0" anchor="ctr"/>
          <a:lstStyle/>
          <a:p>
            <a:pPr indent="0" marL="0">
              <a:lnSpc>
                <a:spcPct val="108000"/>
              </a:lnSpc>
              <a:buNone/>
            </a:pPr>
            <a:r>
              <a:rPr lang="en-US" sz="850" dirty="0">
                <a:solidFill>
                  <a:srgbClr val="CADCFC"/>
                </a:solidFill>
                <a:latin typeface="Calibri" pitchFamily="34" charset="0"/>
                <a:ea typeface="Calibri" pitchFamily="34" charset="-122"/>
                <a:cs typeface="Calibri" pitchFamily="34" charset="-120"/>
              </a:rPr>
              <a:t>Eight uploads and no ground truth pinned the alert weight at 0.20, proved all four L3 videos anomalous, and recovered 35 ground-truth events plus the four classes we never find — from per-class false-alarm counts alone.</a:t>
            </a:r>
            <a:endParaRPr lang="en-US" sz="850" dirty="0"/>
          </a:p>
        </p:txBody>
      </p:sp>
      <p:sp>
        <p:nvSpPr>
          <p:cNvPr id="42" name="Text 40"/>
          <p:cNvSpPr/>
          <p:nvPr/>
        </p:nvSpPr>
        <p:spPr>
          <a:xfrm>
            <a:off x="502920" y="5614416"/>
            <a:ext cx="11155680" cy="411480"/>
          </a:xfrm>
          <a:prstGeom prst="rect">
            <a:avLst/>
          </a:prstGeom>
          <a:noFill/>
          <a:ln/>
        </p:spPr>
        <p:txBody>
          <a:bodyPr wrap="square" lIns="0" tIns="0" rIns="0" bIns="0" rtlCol="0" anchor="ctr"/>
          <a:lstStyle/>
          <a:p>
            <a:pPr indent="0" marL="0">
              <a:buNone/>
            </a:pPr>
            <a:r>
              <a:rPr lang="en-US" sz="1100" i="1" dirty="0">
                <a:solidFill>
                  <a:srgbClr val="8496B4"/>
                </a:solidFill>
                <a:latin typeface="Calibri" pitchFamily="34" charset="0"/>
                <a:ea typeface="Calibri" pitchFamily="34" charset="-122"/>
                <a:cs typeface="Calibri" pitchFamily="34" charset="-120"/>
              </a:rPr>
              <a:t>Negative results reported deliberately: zero-shot Qwen3-VL scored 0/4 (2B) and 1/6 (4B) on segments the 2.18M head got 3/6 right, at 7.4× the latency. We kept what the measurements supported, not what we expected.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Near-Real-Time Video Anomaly Detection</dc:title>
  <dc:subject>PptxGenJS Presentation</dc:subject>
  <dc:creator>AHC Visual Intelligence Hackathon</dc:creator>
  <cp:lastModifiedBy>AHC Visual Intelligence Hackathon</cp:lastModifiedBy>
  <cp:revision>1</cp:revision>
  <dcterms:created xsi:type="dcterms:W3CDTF">2026-09-05T12:11:56Z</dcterms:created>
  <dcterms:modified xsi:type="dcterms:W3CDTF">2026-09-05T12:11:56Z</dcterms:modified>
</cp:coreProperties>
</file>